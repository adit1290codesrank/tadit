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5"/>
          <c:w val="0.84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spPr>
            <a:ln w="19050">
              <a:solidFill>
                <a:srgbClr val="8A96A3"/>
              </a:solidFill>
              <a:prstDash val="dash"/>
            </a:ln>
          </c:spPr>
          <c:marker>
            <c:symbol val="circle"/>
            <c:size val="4"/>
            <c:spPr>
              <a:solidFill>
                <a:srgbClr val="8A96A3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 h</c:v>
                </c:pt>
                <c:pt idx="1">
                  <c:v>2 h</c:v>
                </c:pt>
                <c:pt idx="2">
                  <c:v>3 h</c:v>
                </c:pt>
                <c:pt idx="3">
                  <c:v>4 h</c:v>
                </c:pt>
                <c:pt idx="4">
                  <c:v>5 h</c:v>
                </c:pt>
                <c:pt idx="5">
                  <c:v>6 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0.341</c:v>
                </c:pt>
                <c:pt idx="1">
                  <c:v>0.133</c:v>
                </c:pt>
                <c:pt idx="2">
                  <c:v>0.08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 NWP (HRRR)</c:v>
                </c:pt>
              </c:strCache>
            </c:strRef>
          </c:tx>
          <c:spPr>
            <a:ln w="22225">
              <a:solidFill>
                <a:srgbClr val="E8710A"/>
              </a:solidFill>
            </a:ln>
          </c:spPr>
          <c:marker>
            <c:symbol val="circle"/>
            <c:size val="4"/>
            <c:spPr>
              <a:solidFill>
                <a:srgbClr val="E8710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 h</c:v>
                </c:pt>
                <c:pt idx="1">
                  <c:v>2 h</c:v>
                </c:pt>
                <c:pt idx="2">
                  <c:v>3 h</c:v>
                </c:pt>
                <c:pt idx="3">
                  <c:v>4 h</c:v>
                </c:pt>
                <c:pt idx="4">
                  <c:v>5 h</c:v>
                </c:pt>
                <c:pt idx="5">
                  <c:v>6 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0.266</c:v>
                </c:pt>
                <c:pt idx="1">
                  <c:v>0.222</c:v>
                </c:pt>
                <c:pt idx="2">
                  <c:v>0.197</c:v>
                </c:pt>
                <c:pt idx="3">
                  <c:v>0.186</c:v>
                </c:pt>
                <c:pt idx="4">
                  <c:v>0.181</c:v>
                </c:pt>
                <c:pt idx="5">
                  <c:v>0.175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 nowcast</c:v>
                </c:pt>
              </c:strCache>
            </c:strRef>
          </c:tx>
          <c:spPr>
            <a:ln w="31750">
              <a:solidFill>
                <a:srgbClr val="1565C0"/>
              </a:solidFill>
            </a:ln>
          </c:spPr>
          <c:marker>
            <c:symbol val="circle"/>
            <c:size val="5"/>
            <c:spPr>
              <a:solidFill>
                <a:srgbClr val="1565C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 h</c:v>
                </c:pt>
                <c:pt idx="1">
                  <c:v>2 h</c:v>
                </c:pt>
                <c:pt idx="2">
                  <c:v>3 h</c:v>
                </c:pt>
                <c:pt idx="3">
                  <c:v>4 h</c:v>
                </c:pt>
                <c:pt idx="4">
                  <c:v>5 h</c:v>
                </c:pt>
                <c:pt idx="5">
                  <c:v>6 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0.613</c:v>
                </c:pt>
                <c:pt idx="1">
                  <c:v>0.497</c:v>
                </c:pt>
                <c:pt idx="2">
                  <c:v>0.44</c:v>
                </c:pt>
                <c:pt idx="3">
                  <c:v>0.319</c:v>
                </c:pt>
                <c:pt idx="4">
                  <c:v>0.305</c:v>
                </c:pt>
                <c:pt idx="5">
                  <c:v>0.297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7"/>
          <c:min val="0.0"/>
        </c:scaling>
        <c:delete val="0"/>
        <c:axPos val="l"/>
        <c:majorGridlines>
          <c:spPr>
            <a:ln w="6350">
              <a:solidFill>
                <a:srgbClr val="D5DCE5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0.2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650">
          <a:solidFill>
            <a:srgbClr val="6B778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tadit.pages.dev/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16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7.png"/><Relationship Id="rId13" Type="http://schemas.openxmlformats.org/officeDocument/2006/relationships/image" Target="../media/image23.png"/><Relationship Id="rId14" Type="http://schemas.openxmlformats.org/officeDocument/2006/relationships/image" Target="../media/image9.png"/><Relationship Id="rId15" Type="http://schemas.openxmlformats.org/officeDocument/2006/relationships/image" Target="../media/image24.png"/><Relationship Id="rId16" Type="http://schemas.openxmlformats.org/officeDocument/2006/relationships/image" Target="../media/image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0.png"/><Relationship Id="rId7" Type="http://schemas.openxmlformats.org/officeDocument/2006/relationships/image" Target="../media/image23.png"/><Relationship Id="rId8" Type="http://schemas.openxmlformats.org/officeDocument/2006/relationships/image" Target="../media/image31.png"/><Relationship Id="rId9" Type="http://schemas.openxmlformats.org/officeDocument/2006/relationships/image" Target="../media/image11.png"/><Relationship Id="rId10" Type="http://schemas.openxmlformats.org/officeDocument/2006/relationships/image" Target="../media/image32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33.png"/><Relationship Id="rId14" Type="http://schemas.openxmlformats.org/officeDocument/2006/relationships/image" Target="../media/image24.png"/><Relationship Id="rId15" Type="http://schemas.openxmlformats.org/officeDocument/2006/relationships/image" Target="../media/image27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14.png"/><Relationship Id="rId19" Type="http://schemas.openxmlformats.org/officeDocument/2006/relationships/image" Target="../media/image12.png"/><Relationship Id="rId20" Type="http://schemas.openxmlformats.org/officeDocument/2006/relationships/image" Target="../media/image25.png"/><Relationship Id="rId21" Type="http://schemas.openxmlformats.org/officeDocument/2006/relationships/image" Target="../media/image19.png"/><Relationship Id="rId22" Type="http://schemas.openxmlformats.org/officeDocument/2006/relationships/image" Target="../media/image36.png"/><Relationship Id="rId23" Type="http://schemas.openxmlformats.org/officeDocument/2006/relationships/image" Target="../media/image3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35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9.png"/><Relationship Id="rId12" Type="http://schemas.openxmlformats.org/officeDocument/2006/relationships/image" Target="../media/image18.png"/><Relationship Id="rId13" Type="http://schemas.openxmlformats.org/officeDocument/2006/relationships/image" Target="../media/image11.png"/><Relationship Id="rId14" Type="http://schemas.openxmlformats.org/officeDocument/2006/relationships/image" Target="../media/image13.png"/><Relationship Id="rId15" Type="http://schemas.openxmlformats.org/officeDocument/2006/relationships/image" Target="../media/image19.png"/><Relationship Id="rId16" Type="http://schemas.openxmlformats.org/officeDocument/2006/relationships/image" Target="../media/image42.png"/><Relationship Id="rId17" Type="http://schemas.openxmlformats.org/officeDocument/2006/relationships/image" Target="../media/image17.png"/><Relationship Id="rId18" Type="http://schemas.openxmlformats.org/officeDocument/2006/relationships/image" Target="../media/image43.png"/><Relationship Id="rId19" Type="http://schemas.openxmlformats.org/officeDocument/2006/relationships/image" Target="../media/image33.png"/><Relationship Id="rId20" Type="http://schemas.openxmlformats.org/officeDocument/2006/relationships/image" Target="../media/image44.png"/><Relationship Id="rId21" Type="http://schemas.openxmlformats.org/officeDocument/2006/relationships/chart" Target="../charts/chart1.xml"/><Relationship Id="rId22" Type="http://schemas.openxmlformats.org/officeDocument/2006/relationships/image" Target="../media/image45.png"/><Relationship Id="rId23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hyperlink" Target="https://registry.opendata.aws/sevir/" TargetMode="External"/><Relationship Id="rId6" Type="http://schemas.openxmlformats.org/officeDocument/2006/relationships/hyperlink" Target="https://registry.opendata.aws/noaa-hrrr-pds/" TargetMode="External"/><Relationship Id="rId7" Type="http://schemas.openxmlformats.org/officeDocument/2006/relationships/hyperlink" Target="https://registry.opendata.aws/noaa-gfs-bdp-pds/" TargetMode="External"/><Relationship Id="rId8" Type="http://schemas.openxmlformats.org/officeDocument/2006/relationships/hyperlink" Target="https://www.mosdac.gov.in" TargetMode="External"/><Relationship Id="rId9" Type="http://schemas.openxmlformats.org/officeDocument/2006/relationships/hyperlink" Target="https://registry.opendata.aws/noaa-gk2a-pds/" TargetMode="External"/><Relationship Id="rId10" Type="http://schemas.openxmlformats.org/officeDocument/2006/relationships/hyperlink" Target="https://doi.org/10.5194/essd-18-5773-2026" TargetMode="External"/><Relationship Id="rId11" Type="http://schemas.openxmlformats.org/officeDocument/2006/relationships/hyperlink" Target="https://doi.org/10.11888/Atmos.tpdc.303312" TargetMode="External"/><Relationship Id="rId12" Type="http://schemas.openxmlformats.org/officeDocument/2006/relationships/hyperlink" Target="https://onlinemaps.surveyofindia.gov.in" TargetMode="External"/><Relationship Id="rId13" Type="http://schemas.openxmlformats.org/officeDocument/2006/relationships/hyperlink" Target="https://ildn.in" TargetMode="External"/><Relationship Id="rId14" Type="http://schemas.openxmlformats.org/officeDocument/2006/relationships/image" Target="../media/image25.png"/><Relationship Id="rId15" Type="http://schemas.openxmlformats.org/officeDocument/2006/relationships/hyperlink" Target="https://arxiv.org/abs/1505.04597" TargetMode="External"/><Relationship Id="rId16" Type="http://schemas.openxmlformats.org/officeDocument/2006/relationships/hyperlink" Target="https://arxiv.org/abs/1709.07871" TargetMode="External"/><Relationship Id="rId17" Type="http://schemas.openxmlformats.org/officeDocument/2006/relationships/hyperlink" Target="https://doi.org/10.1029/2022GL101626" TargetMode="External"/><Relationship Id="rId18" Type="http://schemas.openxmlformats.org/officeDocument/2006/relationships/hyperlink" Target="https://arxiv.org/abs/1506.04214" TargetMode="External"/><Relationship Id="rId19" Type="http://schemas.openxmlformats.org/officeDocument/2006/relationships/hyperlink" Target="https://doi.org/10.1038/s41586-021-03854-z" TargetMode="External"/><Relationship Id="rId20" Type="http://schemas.openxmlformats.org/officeDocument/2006/relationships/hyperlink" Target="https://arxiv.org/abs/2207.05833" TargetMode="External"/><Relationship Id="rId21" Type="http://schemas.openxmlformats.org/officeDocument/2006/relationships/hyperlink" Target="https://doi.org/10.1175/WAF-D-21-0151.1" TargetMode="External"/><Relationship Id="rId22" Type="http://schemas.openxmlformats.org/officeDocument/2006/relationships/hyperlink" Target="https://doi.org/10.1016/j.atmosres.2013.01.006" TargetMode="External"/><Relationship Id="rId23" Type="http://schemas.openxmlformats.org/officeDocument/2006/relationships/hyperlink" Target="https://www.star.nesdis.noaa.gov/goesr/documents/ATBDs/Baseline/ATBD_GOES-R_GLM_v3.0_Jul2012.pdf" TargetMode="External"/><Relationship Id="rId24" Type="http://schemas.openxmlformats.org/officeDocument/2006/relationships/hyperlink" Target="https://doi.org/10.5281/zenodo.4567540" TargetMode="External"/><Relationship Id="rId25" Type="http://schemas.openxmlformats.org/officeDocument/2006/relationships/hyperlink" Target="https://github.com/adit1290codesrank/sih2026/blob/main/results/RESULTS.md" TargetMode="External"/><Relationship Id="rId26" Type="http://schemas.openxmlformats.org/officeDocument/2006/relationships/hyperlink" Target="https://tadit.pages.dev/" TargetMode="External"/><Relationship Id="rId27" Type="http://schemas.openxmlformats.org/officeDocument/2006/relationships/image" Target="../media/image9.png"/><Relationship Id="rId28" Type="http://schemas.openxmlformats.org/officeDocument/2006/relationships/hyperlink" Target="https://github.com/adit1290codesrank/sih2026" TargetMode="External"/><Relationship Id="rId29" Type="http://schemas.openxmlformats.org/officeDocument/2006/relationships/image" Target="../media/image23.png"/><Relationship Id="rId30" Type="http://schemas.openxmlformats.org/officeDocument/2006/relationships/image" Target="../media/image32.png"/><Relationship Id="rId31" Type="http://schemas.openxmlformats.org/officeDocument/2006/relationships/image" Target="../media/image14.png"/><Relationship Id="rId32" Type="http://schemas.openxmlformats.org/officeDocument/2006/relationships/hyperlink" Target="https://organiser.org/2023/09/05/194084/bharat/odisha-61000-lightning-strikes-hit-bhubaneshwar-in-two-hours-leaving-10-people-dead/" TargetMode="External"/><Relationship Id="rId33" Type="http://schemas.openxmlformats.org/officeDocument/2006/relationships/hyperlink" Target="https://www.deccanherald.com/india/odisha/10-killed-in-lightning-strikes-in-odisha-2670909" TargetMode="External"/><Relationship Id="rId34" Type="http://schemas.openxmlformats.org/officeDocument/2006/relationships/hyperlink" Target="https://theprint.in/india/thundersquall-hailstorms-lash-kolkata-adjoining-districts-met-forecasts-more-till-may-12/2077151/" TargetMode="External"/><Relationship Id="rId35" Type="http://schemas.openxmlformats.org/officeDocument/2006/relationships/image" Target="../media/image35.png"/><Relationship Id="rId36" Type="http://schemas.openxmlformats.org/officeDocument/2006/relationships/hyperlink" Target="https://www.data.gov.in/catalog/accidental-deaths-suicides-india-adsi-2023" TargetMode="External"/><Relationship Id="rId37" Type="http://schemas.openxmlformats.org/officeDocument/2006/relationships/hyperlink" Target="https://mausam.imd.gov.in/imd_latest/contents/stationwise-nowcast-warning.php" TargetMode="External"/><Relationship Id="rId38" Type="http://schemas.openxmlformats.org/officeDocument/2006/relationships/hyperlink" Target="https://www.pmindia.gov.in/en/news_updates/cabinet-approves-mission-mausam-to-create-a-more-weather-ready-and-climate-smart-bharat-with-an-outlay-of-rs-2000-crore-over-two-yea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/>
            <a:r>
              <a:rPr lang="en-US" b="1" dirty="0">
                <a:solidFill>
                  <a:srgbClr val="0B2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TADIT </a:t>
            </a:r>
            <a:r>
              <a:rPr sz="2800" b="1">
                <a:solidFill>
                  <a:srgbClr val="F37021"/>
                </a:solidFill>
                <a:latin typeface="Nirmala UI"/>
              </a:rPr>
              <a:t>(तड़ित)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/>
            <a:r>
              <a:rPr sz="1600" i="1">
                <a:solidFill>
                  <a:srgbClr val="3D4A5C"/>
                </a:solidFill>
                <a:latin typeface="Times New Roman"/>
              </a:rPr>
              <a:t>AI nowcasting of thunderstorms &amp; lightning, 0–6 hours ahead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28662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solidFill>
                  <a:srgbClr val="1565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SIH26072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solidFill>
                  <a:srgbClr val="1565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AIML Based Nowcasting of Thunderstorm and Lightning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solidFill>
                  <a:srgbClr val="1565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solidFill>
                  <a:srgbClr val="1565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45720"/>
            <a:ext cx="10972800" cy="1143000"/>
          </a:xfrm>
        </p:spPr>
        <p:txBody>
          <a:bodyPr anchor="ctr"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TADIT: AI LIGHTNING NOWCASTING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28600" y="1097280"/>
            <a:ext cx="11731752" cy="40233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63" name="Picture 15362" descr="zap_FFB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1161288"/>
            <a:ext cx="274320" cy="27432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704088" y="1097280"/>
            <a:ext cx="859536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i="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Tadit</a:t>
            </a:r>
            <a:r>
              <a:rPr sz="1000" i="0" b="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 (तड़ित = lightning) fuses </a:t>
            </a:r>
            <a:r>
              <a:rPr sz="1000" i="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radar, satellite, lightning and weather-model</a:t>
            </a:r>
            <a:r>
              <a:rPr sz="1000" i="0" b="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 data into one AI that forecasts </a:t>
            </a:r>
            <a:r>
              <a:rPr sz="1000" i="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where lightning will strike</a:t>
            </a:r>
            <a:r>
              <a:rPr sz="1000" i="0" b="0">
                <a:solidFill>
                  <a:srgbClr val="DCE6F2"/>
                </a:solidFill>
                <a:latin typeface="Calibri"/>
                <a:ea typeface="Calibri"/>
                <a:cs typeface="Calibri"/>
              </a:rPr>
              <a:t>, in 10-min steps to 3 h and hourly to 6 h.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9326880" y="1161288"/>
            <a:ext cx="2542032" cy="274320"/>
          </a:xfrm>
          <a:prstGeom prst="roundRect">
            <a:avLst>
              <a:gd name="adj" fmla="val 50000"/>
            </a:avLst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6" name="TextBox 15365"/>
          <p:cNvSpPr txBox="1"/>
          <p:nvPr/>
        </p:nvSpPr>
        <p:spPr>
          <a:xfrm>
            <a:off x="9326880" y="116128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50" i="0" b="1" u="sng">
                <a:solidFill>
                  <a:srgbClr val="0B2545"/>
                </a:solidFill>
                <a:latin typeface="Segoe UI"/>
                <a:ea typeface="Segoe UI"/>
                <a:cs typeface="Segoe UI"/>
                <a:hlinkClick r:id="rId5"/>
              </a:rPr>
              <a:t>Live prototype: tadit.pages.dev</a:t>
            </a:r>
            <a:r>
              <a:rPr sz="950">
                <a:solidFill>
                  <a:srgbClr val="0B2545"/>
                </a:solidFill>
              </a:rPr>
              <a:t> 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228600" y="1591056"/>
            <a:ext cx="3703320" cy="468172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8" name="Rounded Rectangle 15367"/>
          <p:cNvSpPr/>
          <p:nvPr/>
        </p:nvSpPr>
        <p:spPr>
          <a:xfrm>
            <a:off x="228600" y="1591056"/>
            <a:ext cx="3703320" cy="347472"/>
          </a:xfrm>
          <a:prstGeom prst="roundRect">
            <a:avLst>
              <a:gd name="adj" fmla="val 3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Rectangle 15368"/>
          <p:cNvSpPr/>
          <p:nvPr/>
        </p:nvSpPr>
        <p:spPr>
          <a:xfrm>
            <a:off x="228600" y="1792224"/>
            <a:ext cx="3703320" cy="146304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0" name="Picture 15369" descr="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1655064"/>
            <a:ext cx="219456" cy="219456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649224" y="159105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Proposed Solution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320040" y="2011680"/>
            <a:ext cx="3520439" cy="78089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3" name="Oval 15372"/>
          <p:cNvSpPr/>
          <p:nvPr/>
        </p:nvSpPr>
        <p:spPr>
          <a:xfrm>
            <a:off x="393192" y="2237536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4" name="Picture 15373" descr="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" y="2303373"/>
            <a:ext cx="197510" cy="197510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795528" y="2048256"/>
            <a:ext cx="2971800" cy="70774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9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Multimodal AI fusion: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one model reads Doppler radar, INSAT / GK2A satellite imagery, lightning strikes and GFS weather-model fields together.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20040" y="2856585"/>
            <a:ext cx="3520439" cy="78089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Oval 15376"/>
          <p:cNvSpPr/>
          <p:nvPr/>
        </p:nvSpPr>
        <p:spPr>
          <a:xfrm>
            <a:off x="393192" y="3082442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8" name="Picture 15377" descr="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" y="3148279"/>
            <a:ext cx="197510" cy="197510"/>
          </a:xfrm>
          <a:prstGeom prst="rect">
            <a:avLst/>
          </a:prstGeom>
        </p:spPr>
      </p:pic>
      <p:sp>
        <p:nvSpPr>
          <p:cNvPr id="15379" name="TextBox 15378"/>
          <p:cNvSpPr txBox="1"/>
          <p:nvPr/>
        </p:nvSpPr>
        <p:spPr>
          <a:xfrm>
            <a:off x="795528" y="2893161"/>
            <a:ext cx="2971800" cy="70774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9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Seamless 0–6 h: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Tier 1 deep-learning nowcast in 10-min steps for 0–3 h, then Tier 2 AI-corrected NWP hourly for hours 4–6, switching at the measured crossover hour.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320040" y="3701491"/>
            <a:ext cx="3520439" cy="78089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1" name="Oval 15380"/>
          <p:cNvSpPr/>
          <p:nvPr/>
        </p:nvSpPr>
        <p:spPr>
          <a:xfrm>
            <a:off x="393192" y="3927348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2" name="Picture 15381" descr="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28" y="3993184"/>
            <a:ext cx="197510" cy="197510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795528" y="3738067"/>
            <a:ext cx="2971800" cy="70774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9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What it delivers: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lightning probability per 16 km cell, radar-like storm intensity at 2 km, and LOW / MODERATE / HIGH risk with plain advice for each city.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320040" y="4546396"/>
            <a:ext cx="3520439" cy="78089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5" name="Oval 15384"/>
          <p:cNvSpPr/>
          <p:nvPr/>
        </p:nvSpPr>
        <p:spPr>
          <a:xfrm>
            <a:off x="393192" y="4772253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6" name="Picture 15385" descr="wifio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028" y="4838090"/>
            <a:ext cx="197510" cy="197510"/>
          </a:xfrm>
          <a:prstGeom prst="rect">
            <a:avLst/>
          </a:prstGeom>
        </p:spPr>
      </p:pic>
      <p:sp>
        <p:nvSpPr>
          <p:cNvPr id="15387" name="TextBox 15386"/>
          <p:cNvSpPr txBox="1"/>
          <p:nvPr/>
        </p:nvSpPr>
        <p:spPr>
          <a:xfrm>
            <a:off x="795528" y="4582972"/>
            <a:ext cx="2971800" cy="70774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9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Built for India’s gaps: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keeps working without radar or a lightning feed; runs today on INSAT-3DR/3DS or GK2A satellite + GFS.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320040" y="5391302"/>
            <a:ext cx="3520439" cy="78089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9" name="Oval 15388"/>
          <p:cNvSpPr/>
          <p:nvPr/>
        </p:nvSpPr>
        <p:spPr>
          <a:xfrm>
            <a:off x="393192" y="5617159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90" name="Picture 15389" descr="us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028" y="5682996"/>
            <a:ext cx="197510" cy="197510"/>
          </a:xfrm>
          <a:prstGeom prst="rect">
            <a:avLst/>
          </a:prstGeom>
        </p:spPr>
      </p:pic>
      <p:sp>
        <p:nvSpPr>
          <p:cNvPr id="15391" name="TextBox 15390"/>
          <p:cNvSpPr txBox="1"/>
          <p:nvPr/>
        </p:nvSpPr>
        <p:spPr>
          <a:xfrm>
            <a:off x="795528" y="5427878"/>
            <a:ext cx="2971800" cy="70774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9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Working prototype: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the Tadit web app shows an animated India map and hourly city risk, live at </a:t>
            </a:r>
            <a:r>
              <a:rPr sz="93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5"/>
              </a:rPr>
              <a:t>tadit.pages.dev</a:t>
            </a:r>
            <a:r>
              <a:rPr sz="9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4041648" y="1591056"/>
            <a:ext cx="4526280" cy="2765488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3" name="Oval 15392"/>
          <p:cNvSpPr/>
          <p:nvPr/>
        </p:nvSpPr>
        <p:spPr>
          <a:xfrm>
            <a:off x="4151376" y="1659636"/>
            <a:ext cx="82296" cy="82296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4" name="Oval 15393"/>
          <p:cNvSpPr/>
          <p:nvPr/>
        </p:nvSpPr>
        <p:spPr>
          <a:xfrm>
            <a:off x="4270248" y="1659636"/>
            <a:ext cx="82296" cy="82296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5" name="Oval 15394"/>
          <p:cNvSpPr/>
          <p:nvPr/>
        </p:nvSpPr>
        <p:spPr>
          <a:xfrm>
            <a:off x="4389120" y="1659636"/>
            <a:ext cx="82296" cy="8229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6" name="Rounded Rectangle 15395"/>
          <p:cNvSpPr/>
          <p:nvPr/>
        </p:nvSpPr>
        <p:spPr>
          <a:xfrm>
            <a:off x="4572000" y="1632204"/>
            <a:ext cx="2011680" cy="137160"/>
          </a:xfrm>
          <a:prstGeom prst="roundRect">
            <a:avLst>
              <a:gd name="adj" fmla="val 50000"/>
            </a:avLst>
          </a:prstGeom>
          <a:solidFill>
            <a:srgbClr val="2E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7" name="TextBox 15396"/>
          <p:cNvSpPr txBox="1"/>
          <p:nvPr/>
        </p:nvSpPr>
        <p:spPr>
          <a:xfrm>
            <a:off x="4572000" y="1632204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0">
                <a:solidFill>
                  <a:srgbClr val="C9D3E0"/>
                </a:solidFill>
                <a:latin typeface="Calibri"/>
                <a:ea typeface="Calibri"/>
                <a:cs typeface="Calibri"/>
              </a:rPr>
              <a:t>tadit.pages.dev</a:t>
            </a:r>
          </a:p>
        </p:txBody>
      </p:sp>
      <p:pic>
        <p:nvPicPr>
          <p:cNvPr id="15398" name="Picture 15397" descr="site_bhubaneswar_city.png">
            <a:hlinkClick r:id="rId5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9080" y="1810512"/>
            <a:ext cx="4471416" cy="2518600"/>
          </a:xfrm>
          <a:prstGeom prst="rect">
            <a:avLst/>
          </a:prstGeom>
        </p:spPr>
      </p:pic>
      <p:sp>
        <p:nvSpPr>
          <p:cNvPr id="15399" name="TextBox 15398"/>
          <p:cNvSpPr txBox="1"/>
          <p:nvPr/>
        </p:nvSpPr>
        <p:spPr>
          <a:xfrm>
            <a:off x="4041648" y="4402264"/>
            <a:ext cx="45262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30" i="1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Working prototype: Bhubaneswar lightning outbreak, 2 Sep 2023, forecast issued 13:30 IST (satellite + GFS, no radar)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4041648" y="4676584"/>
            <a:ext cx="95326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1" name="Oval 15400"/>
          <p:cNvSpPr/>
          <p:nvPr/>
        </p:nvSpPr>
        <p:spPr>
          <a:xfrm>
            <a:off x="4353687" y="4740592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2" name="Picture 15401" descr="sa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523" y="4806429"/>
            <a:ext cx="197510" cy="197510"/>
          </a:xfrm>
          <a:prstGeom prst="rect">
            <a:avLst/>
          </a:prstGeom>
        </p:spPr>
      </p:pic>
      <p:sp>
        <p:nvSpPr>
          <p:cNvPr id="15403" name="TextBox 15402"/>
          <p:cNvSpPr txBox="1"/>
          <p:nvPr/>
        </p:nvSpPr>
        <p:spPr>
          <a:xfrm>
            <a:off x="4041648" y="5097208"/>
            <a:ext cx="953262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Observe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4078224" y="5261800"/>
            <a:ext cx="88011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radar, satellite, lightning, NWP</a:t>
            </a:r>
          </a:p>
        </p:txBody>
      </p:sp>
      <p:sp>
        <p:nvSpPr>
          <p:cNvPr id="15405" name="Oval 15404"/>
          <p:cNvSpPr/>
          <p:nvPr/>
        </p:nvSpPr>
        <p:spPr>
          <a:xfrm>
            <a:off x="5022342" y="5005768"/>
            <a:ext cx="182880" cy="1828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6" name="Picture 15405" descr="arro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5260" y="5038686"/>
            <a:ext cx="117043" cy="117043"/>
          </a:xfrm>
          <a:prstGeom prst="rect">
            <a:avLst/>
          </a:prstGeom>
        </p:spPr>
      </p:pic>
      <p:sp>
        <p:nvSpPr>
          <p:cNvPr id="15407" name="Rounded Rectangle 15406"/>
          <p:cNvSpPr/>
          <p:nvPr/>
        </p:nvSpPr>
        <p:spPr>
          <a:xfrm>
            <a:off x="5232654" y="4676584"/>
            <a:ext cx="95326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8" name="Oval 15407"/>
          <p:cNvSpPr/>
          <p:nvPr/>
        </p:nvSpPr>
        <p:spPr>
          <a:xfrm>
            <a:off x="5544693" y="4740592"/>
            <a:ext cx="329184" cy="329184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9" name="Picture 15408" descr="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0529" y="4806429"/>
            <a:ext cx="197510" cy="197510"/>
          </a:xfrm>
          <a:prstGeom prst="rect">
            <a:avLst/>
          </a:prstGeom>
        </p:spPr>
      </p:pic>
      <p:sp>
        <p:nvSpPr>
          <p:cNvPr id="15410" name="TextBox 15409"/>
          <p:cNvSpPr txBox="1"/>
          <p:nvPr/>
        </p:nvSpPr>
        <p:spPr>
          <a:xfrm>
            <a:off x="5232654" y="5097208"/>
            <a:ext cx="953262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Fuse</a:t>
            </a:r>
          </a:p>
        </p:txBody>
      </p:sp>
      <p:sp>
        <p:nvSpPr>
          <p:cNvPr id="15411" name="TextBox 15410"/>
          <p:cNvSpPr txBox="1"/>
          <p:nvPr/>
        </p:nvSpPr>
        <p:spPr>
          <a:xfrm>
            <a:off x="5269230" y="5261800"/>
            <a:ext cx="88011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one multimodal AI model</a:t>
            </a:r>
          </a:p>
        </p:txBody>
      </p:sp>
      <p:sp>
        <p:nvSpPr>
          <p:cNvPr id="15412" name="Oval 15411"/>
          <p:cNvSpPr/>
          <p:nvPr/>
        </p:nvSpPr>
        <p:spPr>
          <a:xfrm>
            <a:off x="6213348" y="5005768"/>
            <a:ext cx="182880" cy="1828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3" name="Picture 15412" descr="arro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6266" y="5038686"/>
            <a:ext cx="117043" cy="117043"/>
          </a:xfrm>
          <a:prstGeom prst="rect">
            <a:avLst/>
          </a:prstGeom>
        </p:spPr>
      </p:pic>
      <p:sp>
        <p:nvSpPr>
          <p:cNvPr id="15414" name="Rounded Rectangle 15413"/>
          <p:cNvSpPr/>
          <p:nvPr/>
        </p:nvSpPr>
        <p:spPr>
          <a:xfrm>
            <a:off x="6423660" y="4676584"/>
            <a:ext cx="95326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5" name="Oval 15414"/>
          <p:cNvSpPr/>
          <p:nvPr/>
        </p:nvSpPr>
        <p:spPr>
          <a:xfrm>
            <a:off x="6735699" y="4740592"/>
            <a:ext cx="329184" cy="329184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6" name="Picture 15415" descr="za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01535" y="4806429"/>
            <a:ext cx="197510" cy="197510"/>
          </a:xfrm>
          <a:prstGeom prst="rect">
            <a:avLst/>
          </a:prstGeom>
        </p:spPr>
      </p:pic>
      <p:sp>
        <p:nvSpPr>
          <p:cNvPr id="15417" name="TextBox 15416"/>
          <p:cNvSpPr txBox="1"/>
          <p:nvPr/>
        </p:nvSpPr>
        <p:spPr>
          <a:xfrm>
            <a:off x="6423660" y="5097208"/>
            <a:ext cx="953262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i="0" b="1">
                <a:solidFill>
                  <a:srgbClr val="F37021"/>
                </a:solidFill>
                <a:latin typeface="Segoe UI"/>
                <a:ea typeface="Segoe UI"/>
                <a:cs typeface="Segoe UI"/>
              </a:rPr>
              <a:t>Forecast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6460236" y="5261800"/>
            <a:ext cx="88011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10-min steps to 3 h, hourly to 6 h</a:t>
            </a:r>
          </a:p>
        </p:txBody>
      </p:sp>
      <p:sp>
        <p:nvSpPr>
          <p:cNvPr id="15419" name="Oval 15418"/>
          <p:cNvSpPr/>
          <p:nvPr/>
        </p:nvSpPr>
        <p:spPr>
          <a:xfrm>
            <a:off x="7404354" y="5005768"/>
            <a:ext cx="182880" cy="1828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0" name="Picture 15419" descr="arro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7272" y="5038686"/>
            <a:ext cx="117043" cy="117043"/>
          </a:xfrm>
          <a:prstGeom prst="rect">
            <a:avLst/>
          </a:prstGeom>
        </p:spPr>
      </p:pic>
      <p:sp>
        <p:nvSpPr>
          <p:cNvPr id="15421" name="Rounded Rectangle 15420"/>
          <p:cNvSpPr/>
          <p:nvPr/>
        </p:nvSpPr>
        <p:spPr>
          <a:xfrm>
            <a:off x="7614666" y="4676584"/>
            <a:ext cx="95326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2" name="Oval 15421"/>
          <p:cNvSpPr/>
          <p:nvPr/>
        </p:nvSpPr>
        <p:spPr>
          <a:xfrm>
            <a:off x="7926705" y="4740592"/>
            <a:ext cx="329184" cy="32918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3" name="Picture 15422" descr="aler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92541" y="4806429"/>
            <a:ext cx="197510" cy="197510"/>
          </a:xfrm>
          <a:prstGeom prst="rect">
            <a:avLst/>
          </a:prstGeom>
        </p:spPr>
      </p:pic>
      <p:sp>
        <p:nvSpPr>
          <p:cNvPr id="15424" name="TextBox 15423"/>
          <p:cNvSpPr txBox="1"/>
          <p:nvPr/>
        </p:nvSpPr>
        <p:spPr>
          <a:xfrm>
            <a:off x="7614666" y="5097208"/>
            <a:ext cx="953262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i="0" b="1">
                <a:solidFill>
                  <a:srgbClr val="D62828"/>
                </a:solidFill>
                <a:latin typeface="Segoe UI"/>
                <a:ea typeface="Segoe UI"/>
                <a:cs typeface="Segoe UI"/>
              </a:rPr>
              <a:t>Alert</a:t>
            </a:r>
          </a:p>
        </p:txBody>
      </p:sp>
      <p:sp>
        <p:nvSpPr>
          <p:cNvPr id="15425" name="TextBox 15424"/>
          <p:cNvSpPr txBox="1"/>
          <p:nvPr/>
        </p:nvSpPr>
        <p:spPr>
          <a:xfrm>
            <a:off x="7651242" y="5261800"/>
            <a:ext cx="88011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city risk + advice</a:t>
            </a:r>
          </a:p>
        </p:txBody>
      </p:sp>
      <p:sp>
        <p:nvSpPr>
          <p:cNvPr id="15426" name="Rounded Rectangle 15425"/>
          <p:cNvSpPr/>
          <p:nvPr/>
        </p:nvSpPr>
        <p:spPr>
          <a:xfrm>
            <a:off x="4041648" y="5609272"/>
            <a:ext cx="4526280" cy="663511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7" name="TextBox 15426"/>
          <p:cNvSpPr txBox="1"/>
          <p:nvPr/>
        </p:nvSpPr>
        <p:spPr>
          <a:xfrm>
            <a:off x="4114800" y="5654992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i="0" b="0">
                <a:solidFill>
                  <a:srgbClr val="1565C0"/>
                </a:solidFill>
                <a:latin typeface="Segoe UI Black"/>
                <a:ea typeface="Segoe UI Black"/>
                <a:cs typeface="Segoe UI Black"/>
              </a:rPr>
              <a:t>0.613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4133087" y="59384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2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lightning CSI at hour 1, 1.8× persistence</a:t>
            </a:r>
          </a:p>
        </p:txBody>
      </p:sp>
      <p:sp>
        <p:nvSpPr>
          <p:cNvPr id="15429" name="TextBox 15428"/>
          <p:cNvSpPr txBox="1"/>
          <p:nvPr/>
        </p:nvSpPr>
        <p:spPr>
          <a:xfrm>
            <a:off x="5623560" y="5654992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i="0" b="0">
                <a:solidFill>
                  <a:srgbClr val="1565C0"/>
                </a:solidFill>
                <a:latin typeface="Segoe UI Black"/>
                <a:ea typeface="Segoe UI Black"/>
                <a:cs typeface="Segoe UI Black"/>
              </a:rPr>
              <a:t>6 / 6</a:t>
            </a:r>
          </a:p>
        </p:txBody>
      </p:sp>
      <p:sp>
        <p:nvSpPr>
          <p:cNvPr id="15430" name="TextBox 15429"/>
          <p:cNvSpPr txBox="1"/>
          <p:nvPr/>
        </p:nvSpPr>
        <p:spPr>
          <a:xfrm>
            <a:off x="5641848" y="59384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2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lead hours beating raw NWP lightning</a:t>
            </a:r>
          </a:p>
        </p:txBody>
      </p:sp>
      <p:sp>
        <p:nvSpPr>
          <p:cNvPr id="15431" name="TextBox 15430"/>
          <p:cNvSpPr txBox="1"/>
          <p:nvPr/>
        </p:nvSpPr>
        <p:spPr>
          <a:xfrm>
            <a:off x="7132320" y="5654992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i="0" b="0">
                <a:solidFill>
                  <a:srgbClr val="1565C0"/>
                </a:solidFill>
                <a:latin typeface="Segoe UI Black"/>
                <a:ea typeface="Segoe UI Black"/>
                <a:cs typeface="Segoe UI Black"/>
              </a:rPr>
              <a:t>India</a:t>
            </a:r>
          </a:p>
        </p:txBody>
      </p:sp>
      <p:sp>
        <p:nvSpPr>
          <p:cNvPr id="15432" name="TextBox 15431"/>
          <p:cNvSpPr txBox="1"/>
          <p:nvPr/>
        </p:nvSpPr>
        <p:spPr>
          <a:xfrm>
            <a:off x="7150608" y="59384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72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beats persistence vs FY-4A satellite lightning</a:t>
            </a:r>
          </a:p>
        </p:txBody>
      </p:sp>
      <p:sp>
        <p:nvSpPr>
          <p:cNvPr id="15433" name="Rounded Rectangle 15432"/>
          <p:cNvSpPr/>
          <p:nvPr/>
        </p:nvSpPr>
        <p:spPr>
          <a:xfrm>
            <a:off x="8677656" y="1591056"/>
            <a:ext cx="3282696" cy="239572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4" name="Rounded Rectangle 15433"/>
          <p:cNvSpPr/>
          <p:nvPr/>
        </p:nvSpPr>
        <p:spPr>
          <a:xfrm>
            <a:off x="8677656" y="1591056"/>
            <a:ext cx="3282696" cy="347472"/>
          </a:xfrm>
          <a:prstGeom prst="roundRect">
            <a:avLst>
              <a:gd name="adj" fmla="val 3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5" name="Rectangle 15434"/>
          <p:cNvSpPr/>
          <p:nvPr/>
        </p:nvSpPr>
        <p:spPr>
          <a:xfrm>
            <a:off x="8677656" y="1792224"/>
            <a:ext cx="3282696" cy="146304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36" name="Picture 15435" descr="targe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96528" y="1655064"/>
            <a:ext cx="219456" cy="219456"/>
          </a:xfrm>
          <a:prstGeom prst="rect">
            <a:avLst/>
          </a:prstGeom>
        </p:spPr>
      </p:pic>
      <p:sp>
        <p:nvSpPr>
          <p:cNvPr id="15437" name="TextBox 15436"/>
          <p:cNvSpPr txBox="1"/>
          <p:nvPr/>
        </p:nvSpPr>
        <p:spPr>
          <a:xfrm>
            <a:off x="9098280" y="1591056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How It Addresses the Problem</a:t>
            </a:r>
          </a:p>
        </p:txBody>
      </p:sp>
      <p:sp>
        <p:nvSpPr>
          <p:cNvPr id="15438" name="Rounded Rectangle 15437"/>
          <p:cNvSpPr/>
          <p:nvPr/>
        </p:nvSpPr>
        <p:spPr>
          <a:xfrm>
            <a:off x="8769096" y="2011680"/>
            <a:ext cx="3099815" cy="582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9" name="Oval 15438"/>
          <p:cNvSpPr/>
          <p:nvPr/>
        </p:nvSpPr>
        <p:spPr>
          <a:xfrm>
            <a:off x="8842248" y="2084832"/>
            <a:ext cx="219456" cy="219456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40" name="Picture 15439" descr="che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72971" y="2115555"/>
            <a:ext cx="158008" cy="158008"/>
          </a:xfrm>
          <a:prstGeom prst="rect">
            <a:avLst/>
          </a:prstGeom>
        </p:spPr>
      </p:pic>
      <p:sp>
        <p:nvSpPr>
          <p:cNvPr id="15441" name="TextBox 15440"/>
          <p:cNvSpPr txBox="1"/>
          <p:nvPr/>
        </p:nvSpPr>
        <p:spPr>
          <a:xfrm>
            <a:off x="9116568" y="2075688"/>
            <a:ext cx="271576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3 h → 6 h</a:t>
            </a:r>
          </a:p>
        </p:txBody>
      </p:sp>
      <p:sp>
        <p:nvSpPr>
          <p:cNvPr id="15442" name="TextBox 15441"/>
          <p:cNvSpPr txBox="1"/>
          <p:nvPr/>
        </p:nvSpPr>
        <p:spPr>
          <a:xfrm>
            <a:off x="8860536" y="2295144"/>
            <a:ext cx="2953512" cy="316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IMD’s nowcasts look 3 h ahead. Tadit forecasts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6 h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: 10-min steps to 3 h, then hourly.</a:t>
            </a:r>
          </a:p>
        </p:txBody>
      </p:sp>
      <p:sp>
        <p:nvSpPr>
          <p:cNvPr id="15443" name="Rounded Rectangle 15442"/>
          <p:cNvSpPr/>
          <p:nvPr/>
        </p:nvSpPr>
        <p:spPr>
          <a:xfrm>
            <a:off x="8769096" y="2657856"/>
            <a:ext cx="3099815" cy="582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44" name="Oval 15443"/>
          <p:cNvSpPr/>
          <p:nvPr/>
        </p:nvSpPr>
        <p:spPr>
          <a:xfrm>
            <a:off x="8842248" y="2731008"/>
            <a:ext cx="219456" cy="219456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45" name="Picture 15444" descr="che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72971" y="2761731"/>
            <a:ext cx="158008" cy="158008"/>
          </a:xfrm>
          <a:prstGeom prst="rect">
            <a:avLst/>
          </a:prstGeom>
        </p:spPr>
      </p:pic>
      <p:sp>
        <p:nvSpPr>
          <p:cNvPr id="15446" name="TextBox 15445"/>
          <p:cNvSpPr txBox="1"/>
          <p:nvPr/>
        </p:nvSpPr>
        <p:spPr>
          <a:xfrm>
            <a:off x="9116568" y="2721864"/>
            <a:ext cx="271576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No radar? Still works</a:t>
            </a:r>
          </a:p>
        </p:txBody>
      </p:sp>
      <p:sp>
        <p:nvSpPr>
          <p:cNvPr id="15447" name="TextBox 15446"/>
          <p:cNvSpPr txBox="1"/>
          <p:nvPr/>
        </p:nvSpPr>
        <p:spPr>
          <a:xfrm>
            <a:off x="8860536" y="2941320"/>
            <a:ext cx="2953512" cy="316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Large parts of India lack radar. Satellite + NWP alone reaches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0.461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CSI at hour 1.</a:t>
            </a:r>
          </a:p>
        </p:txBody>
      </p:sp>
      <p:sp>
        <p:nvSpPr>
          <p:cNvPr id="15448" name="Rounded Rectangle 15447"/>
          <p:cNvSpPr/>
          <p:nvPr/>
        </p:nvSpPr>
        <p:spPr>
          <a:xfrm>
            <a:off x="8769096" y="3304032"/>
            <a:ext cx="3099815" cy="582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49" name="Oval 15448"/>
          <p:cNvSpPr/>
          <p:nvPr/>
        </p:nvSpPr>
        <p:spPr>
          <a:xfrm>
            <a:off x="8842248" y="3377184"/>
            <a:ext cx="219456" cy="219456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50" name="Picture 15449" descr="chec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72971" y="3407907"/>
            <a:ext cx="158008" cy="158008"/>
          </a:xfrm>
          <a:prstGeom prst="rect">
            <a:avLst/>
          </a:prstGeom>
        </p:spPr>
      </p:pic>
      <p:sp>
        <p:nvSpPr>
          <p:cNvPr id="15451" name="TextBox 15450"/>
          <p:cNvSpPr txBox="1"/>
          <p:nvPr/>
        </p:nvSpPr>
        <p:spPr>
          <a:xfrm>
            <a:off x="9116568" y="3368040"/>
            <a:ext cx="271576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From maps to action</a:t>
            </a:r>
          </a:p>
        </p:txBody>
      </p:sp>
      <p:sp>
        <p:nvSpPr>
          <p:cNvPr id="15452" name="TextBox 15451"/>
          <p:cNvSpPr txBox="1"/>
          <p:nvPr/>
        </p:nvSpPr>
        <p:spPr>
          <a:xfrm>
            <a:off x="8860536" y="3587496"/>
            <a:ext cx="2953512" cy="316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City-level hourly risk with advice (“go indoors now”) for officials and the public.</a:t>
            </a:r>
          </a:p>
        </p:txBody>
      </p:sp>
      <p:sp>
        <p:nvSpPr>
          <p:cNvPr id="15453" name="Rounded Rectangle 15452"/>
          <p:cNvSpPr/>
          <p:nvPr/>
        </p:nvSpPr>
        <p:spPr>
          <a:xfrm>
            <a:off x="8677656" y="4078224"/>
            <a:ext cx="3282696" cy="219456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54" name="Rounded Rectangle 15453"/>
          <p:cNvSpPr/>
          <p:nvPr/>
        </p:nvSpPr>
        <p:spPr>
          <a:xfrm>
            <a:off x="8677656" y="4078224"/>
            <a:ext cx="3282696" cy="347472"/>
          </a:xfrm>
          <a:prstGeom prst="roundRect">
            <a:avLst>
              <a:gd name="adj" fmla="val 3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55" name="Rectangle 15454"/>
          <p:cNvSpPr/>
          <p:nvPr/>
        </p:nvSpPr>
        <p:spPr>
          <a:xfrm>
            <a:off x="8677656" y="4279392"/>
            <a:ext cx="3282696" cy="14630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56" name="Picture 15455" descr="gif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96528" y="4142232"/>
            <a:ext cx="219456" cy="219456"/>
          </a:xfrm>
          <a:prstGeom prst="rect">
            <a:avLst/>
          </a:prstGeom>
        </p:spPr>
      </p:pic>
      <p:sp>
        <p:nvSpPr>
          <p:cNvPr id="15457" name="TextBox 15456"/>
          <p:cNvSpPr txBox="1"/>
          <p:nvPr/>
        </p:nvSpPr>
        <p:spPr>
          <a:xfrm>
            <a:off x="9098280" y="4078224"/>
            <a:ext cx="2825496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Innovation &amp; Uniqueness</a:t>
            </a:r>
          </a:p>
        </p:txBody>
      </p:sp>
      <p:sp>
        <p:nvSpPr>
          <p:cNvPr id="15458" name="Oval 15457"/>
          <p:cNvSpPr/>
          <p:nvPr/>
        </p:nvSpPr>
        <p:spPr>
          <a:xfrm>
            <a:off x="8769096" y="4588002"/>
            <a:ext cx="256032" cy="256032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59" name="TextBox 15458"/>
          <p:cNvSpPr txBox="1"/>
          <p:nvPr/>
        </p:nvSpPr>
        <p:spPr>
          <a:xfrm>
            <a:off x="8769096" y="458800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5460" name="TextBox 15459"/>
          <p:cNvSpPr txBox="1"/>
          <p:nvPr/>
        </p:nvSpPr>
        <p:spPr>
          <a:xfrm>
            <a:off x="9098280" y="4498848"/>
            <a:ext cx="2770632" cy="4343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Mid-fusion U-Net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with NWP cross-attention + FiLM: all 18 lead times in one pass.</a:t>
            </a:r>
          </a:p>
        </p:txBody>
      </p:sp>
      <p:sp>
        <p:nvSpPr>
          <p:cNvPr id="15461" name="Oval 15460"/>
          <p:cNvSpPr/>
          <p:nvPr/>
        </p:nvSpPr>
        <p:spPr>
          <a:xfrm>
            <a:off x="8769096" y="5022342"/>
            <a:ext cx="256032" cy="256032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62" name="TextBox 15461"/>
          <p:cNvSpPr txBox="1"/>
          <p:nvPr/>
        </p:nvSpPr>
        <p:spPr>
          <a:xfrm>
            <a:off x="8769096" y="502234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5463" name="TextBox 15462"/>
          <p:cNvSpPr txBox="1"/>
          <p:nvPr/>
        </p:nvSpPr>
        <p:spPr>
          <a:xfrm>
            <a:off x="9098280" y="4933188"/>
            <a:ext cx="2770632" cy="4343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Modality dropout: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robust to any missing sensor, with free drop-a-sensor tests.</a:t>
            </a:r>
          </a:p>
        </p:txBody>
      </p:sp>
      <p:sp>
        <p:nvSpPr>
          <p:cNvPr id="15464" name="Oval 15463"/>
          <p:cNvSpPr/>
          <p:nvPr/>
        </p:nvSpPr>
        <p:spPr>
          <a:xfrm>
            <a:off x="8769096" y="5456682"/>
            <a:ext cx="256032" cy="256032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65" name="TextBox 15464"/>
          <p:cNvSpPr txBox="1"/>
          <p:nvPr/>
        </p:nvSpPr>
        <p:spPr>
          <a:xfrm>
            <a:off x="8769096" y="545668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5466" name="TextBox 15465"/>
          <p:cNvSpPr txBox="1"/>
          <p:nvPr/>
        </p:nvSpPr>
        <p:spPr>
          <a:xfrm>
            <a:off x="9098280" y="5367528"/>
            <a:ext cx="2770632" cy="4343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Measured tier crossover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stitches nowcast and NWP into one 0–6 h product.</a:t>
            </a:r>
          </a:p>
        </p:txBody>
      </p:sp>
      <p:sp>
        <p:nvSpPr>
          <p:cNvPr id="15467" name="Oval 15466"/>
          <p:cNvSpPr/>
          <p:nvPr/>
        </p:nvSpPr>
        <p:spPr>
          <a:xfrm>
            <a:off x="8769096" y="5891022"/>
            <a:ext cx="256032" cy="256032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68" name="TextBox 15467"/>
          <p:cNvSpPr txBox="1"/>
          <p:nvPr/>
        </p:nvSpPr>
        <p:spPr>
          <a:xfrm>
            <a:off x="8769096" y="589102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5469" name="TextBox 15468"/>
          <p:cNvSpPr txBox="1"/>
          <p:nvPr/>
        </p:nvSpPr>
        <p:spPr>
          <a:xfrm>
            <a:off x="9098280" y="5801868"/>
            <a:ext cx="2770632" cy="4343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India-adapted in training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(INSAT / GFS-like inputs) with leak-free lightning labels.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097280"/>
            <a:ext cx="11731752" cy="263347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365760" y="115214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System architecture:</a:t>
            </a:r>
            <a:r>
              <a:rPr sz="1000" i="0" b="0">
                <a:solidFill>
                  <a:srgbClr val="6B7787"/>
                </a:solidFill>
                <a:latin typeface="Segoe UI"/>
                <a:ea typeface="Segoe UI"/>
                <a:cs typeface="Segoe UI"/>
              </a:rPr>
              <a:t> from raw observations to a 0–6 h lightning forecast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38328" y="1444752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1 · DATA SOURCES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38328" y="1682496"/>
            <a:ext cx="1874519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Oval 17413"/>
          <p:cNvSpPr/>
          <p:nvPr/>
        </p:nvSpPr>
        <p:spPr>
          <a:xfrm>
            <a:off x="420623" y="1755648"/>
            <a:ext cx="310896" cy="31089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5" name="Picture 17414" descr="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" y="1817827"/>
            <a:ext cx="186537" cy="186537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795528" y="1709928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Radar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95528" y="1874520"/>
            <a:ext cx="13715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6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NEXRAD VIL (training); IMD DWR reader built, not yet on live data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38328" y="2194560"/>
            <a:ext cx="1874519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Oval 17418"/>
          <p:cNvSpPr/>
          <p:nvPr/>
        </p:nvSpPr>
        <p:spPr>
          <a:xfrm>
            <a:off x="420623" y="2267712"/>
            <a:ext cx="310896" cy="310896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0" name="Picture 17419" descr="s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" y="2329891"/>
            <a:ext cx="186537" cy="186537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795528" y="2221992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Satellite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95528" y="2386584"/>
            <a:ext cx="13715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6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INSAT-3DR/3DS · GK2A · GOES IR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38328" y="2706624"/>
            <a:ext cx="1874519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Oval 17423"/>
          <p:cNvSpPr/>
          <p:nvPr/>
        </p:nvSpPr>
        <p:spPr>
          <a:xfrm>
            <a:off x="420623" y="2779776"/>
            <a:ext cx="310896" cy="310896"/>
          </a:xfrm>
          <a:prstGeom prst="ellipse">
            <a:avLst/>
          </a:prstGeom>
          <a:solidFill>
            <a:srgbClr val="E3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5" name="Picture 17424" descr="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" y="2841955"/>
            <a:ext cx="186537" cy="186537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795528" y="2734056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i="0" b="1">
                <a:solidFill>
                  <a:srgbClr val="E3A000"/>
                </a:solidFill>
                <a:latin typeface="Segoe UI"/>
                <a:ea typeface="Segoe UI"/>
                <a:cs typeface="Segoe UI"/>
              </a:rPr>
              <a:t>Lightning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95528" y="2898648"/>
            <a:ext cx="13715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6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GLM (training); ILDN partnership offered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38328" y="3218688"/>
            <a:ext cx="1874519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Oval 17428"/>
          <p:cNvSpPr/>
          <p:nvPr/>
        </p:nvSpPr>
        <p:spPr>
          <a:xfrm>
            <a:off x="420623" y="3291840"/>
            <a:ext cx="310896" cy="310896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0" name="Picture 17429" descr="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" y="3354019"/>
            <a:ext cx="186537" cy="186537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95528" y="3246120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Weather model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95528" y="3410712"/>
            <a:ext cx="1371599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6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GFS 0.25° · HRRR</a:t>
            </a:r>
          </a:p>
        </p:txBody>
      </p:sp>
      <p:pic>
        <p:nvPicPr>
          <p:cNvPr id="17433" name="Picture 17432" descr="arrow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9424" y="2560320"/>
            <a:ext cx="237744" cy="237744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2523744" y="14447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2 · PREPROCESSING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2523744" y="1682496"/>
            <a:ext cx="1828800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Oval 17435"/>
          <p:cNvSpPr/>
          <p:nvPr/>
        </p:nvSpPr>
        <p:spPr>
          <a:xfrm>
            <a:off x="2615184" y="1810512"/>
            <a:ext cx="182880" cy="1828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7" name="Picture 17436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129" y="1832457"/>
            <a:ext cx="138988" cy="138988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2852927" y="1773936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384 km tiles on one map grid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2615184" y="2189988"/>
            <a:ext cx="182880" cy="1828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0" name="Picture 17439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129" y="2211933"/>
            <a:ext cx="138988" cy="138988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2852927" y="2153412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Radar / satellite at 2 km, lightning at 8 km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2615184" y="2569464"/>
            <a:ext cx="182880" cy="1828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3" name="Picture 17442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129" y="2591409"/>
            <a:ext cx="138988" cy="138988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2852927" y="2532888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Leak-free lightning labels (past 5 min only)</a:t>
            </a:r>
          </a:p>
        </p:txBody>
      </p:sp>
      <p:sp>
        <p:nvSpPr>
          <p:cNvPr id="17445" name="Oval 17444"/>
          <p:cNvSpPr/>
          <p:nvPr/>
        </p:nvSpPr>
        <p:spPr>
          <a:xfrm>
            <a:off x="2615184" y="2948939"/>
            <a:ext cx="182880" cy="1828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6" name="Picture 17445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129" y="2970885"/>
            <a:ext cx="138988" cy="138988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2852927" y="2912363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NWP only from runs issued before the forecast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2615184" y="3328415"/>
            <a:ext cx="182880" cy="1828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9" name="Picture 17448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7129" y="3350361"/>
            <a:ext cx="138988" cy="138988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2852927" y="3291839"/>
            <a:ext cx="142646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50% of samples degraded to INSAT &amp; GFS quality</a:t>
            </a:r>
          </a:p>
        </p:txBody>
      </p:sp>
      <p:pic>
        <p:nvPicPr>
          <p:cNvPr id="17451" name="Picture 17450" descr="arrow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2039112"/>
            <a:ext cx="237744" cy="237744"/>
          </a:xfrm>
          <a:prstGeom prst="rect">
            <a:avLst/>
          </a:prstGeom>
        </p:spPr>
      </p:pic>
      <p:pic>
        <p:nvPicPr>
          <p:cNvPr id="17452" name="Picture 17451" descr="arrow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3172968"/>
            <a:ext cx="237744" cy="237744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4663440" y="1444752"/>
            <a:ext cx="459028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3 · AI MODELS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663440" y="1682496"/>
            <a:ext cx="4590288" cy="1170432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1587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4773168" y="1728216"/>
            <a:ext cx="4407407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TIER 1 · Fusion nowcaster</a:t>
            </a:r>
            <a:r>
              <a:rPr sz="950" i="0" b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 (0–3 h, 10-min steps)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7470648" y="1746504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60M params · modality dropout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4773168" y="2011680"/>
            <a:ext cx="955547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9D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4818888" y="2066544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819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Per-source encoders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818888" y="2395728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8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each sensor at native res.</a:t>
            </a:r>
          </a:p>
        </p:txBody>
      </p:sp>
      <p:pic>
        <p:nvPicPr>
          <p:cNvPr id="17460" name="Picture 17459" descr="arrow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7003" y="2304288"/>
            <a:ext cx="146304" cy="146304"/>
          </a:xfrm>
          <a:prstGeom prst="rect">
            <a:avLst/>
          </a:prstGeom>
        </p:spPr>
      </p:pic>
      <p:sp>
        <p:nvSpPr>
          <p:cNvPr id="17461" name="Rounded Rectangle 17460"/>
          <p:cNvSpPr/>
          <p:nvPr/>
        </p:nvSpPr>
        <p:spPr>
          <a:xfrm>
            <a:off x="5911596" y="2011680"/>
            <a:ext cx="955547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9D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TextBox 17461"/>
          <p:cNvSpPr txBox="1"/>
          <p:nvPr/>
        </p:nvSpPr>
        <p:spPr>
          <a:xfrm>
            <a:off x="5957316" y="2066544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819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Gated fusion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5957316" y="2395728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8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+ ‘missing’ embeddings</a:t>
            </a:r>
          </a:p>
        </p:txBody>
      </p:sp>
      <p:pic>
        <p:nvPicPr>
          <p:cNvPr id="17464" name="Picture 17463" descr="arrow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431" y="2304288"/>
            <a:ext cx="146304" cy="146304"/>
          </a:xfrm>
          <a:prstGeom prst="rect">
            <a:avLst/>
          </a:prstGeom>
        </p:spPr>
      </p:pic>
      <p:sp>
        <p:nvSpPr>
          <p:cNvPr id="17465" name="Rounded Rectangle 17464"/>
          <p:cNvSpPr/>
          <p:nvPr/>
        </p:nvSpPr>
        <p:spPr>
          <a:xfrm>
            <a:off x="7050023" y="2011680"/>
            <a:ext cx="955547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9D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7095743" y="2066544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819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U-Net + attention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7095743" y="2395728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8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NWP cross-attn · FiLM</a:t>
            </a:r>
          </a:p>
        </p:txBody>
      </p:sp>
      <p:pic>
        <p:nvPicPr>
          <p:cNvPr id="17468" name="Picture 17467" descr="arrow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3859" y="2304288"/>
            <a:ext cx="146304" cy="146304"/>
          </a:xfrm>
          <a:prstGeom prst="rect">
            <a:avLst/>
          </a:prstGeom>
        </p:spPr>
      </p:pic>
      <p:sp>
        <p:nvSpPr>
          <p:cNvPr id="17469" name="Rounded Rectangle 17468"/>
          <p:cNvSpPr/>
          <p:nvPr/>
        </p:nvSpPr>
        <p:spPr>
          <a:xfrm>
            <a:off x="8188451" y="2011680"/>
            <a:ext cx="955547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9D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0" name="TextBox 17469"/>
          <p:cNvSpPr txBox="1"/>
          <p:nvPr/>
        </p:nvSpPr>
        <p:spPr>
          <a:xfrm>
            <a:off x="8234171" y="2066544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819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18 lead times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8234171" y="2395728"/>
            <a:ext cx="86410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8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VIL 2 km · lightning 8 km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4663440" y="2944368"/>
            <a:ext cx="4590288" cy="731520"/>
          </a:xfrm>
          <a:prstGeom prst="roundRect">
            <a:avLst>
              <a:gd name="adj" fmla="val 10000"/>
            </a:avLst>
          </a:prstGeom>
          <a:solidFill>
            <a:srgbClr val="E7F5F5"/>
          </a:solidFill>
          <a:ln w="15875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TextBox 17472"/>
          <p:cNvSpPr txBox="1"/>
          <p:nvPr/>
        </p:nvSpPr>
        <p:spPr>
          <a:xfrm>
            <a:off x="4773168" y="2990088"/>
            <a:ext cx="4407407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i="0" b="1">
                <a:solidFill>
                  <a:srgbClr val="0F8B8D"/>
                </a:solidFill>
                <a:latin typeface="Segoe UI"/>
                <a:ea typeface="Segoe UI"/>
                <a:cs typeface="Segoe UI"/>
              </a:rPr>
              <a:t>TIER 2 · AI-corrected NWP</a:t>
            </a:r>
            <a:r>
              <a:rPr sz="950" i="0" b="0">
                <a:solidFill>
                  <a:srgbClr val="0F8B8D"/>
                </a:solidFill>
                <a:latin typeface="Segoe UI"/>
                <a:ea typeface="Segoe UI"/>
                <a:cs typeface="Segoe UI"/>
              </a:rPr>
              <a:t> (lead hours 1–6)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4773168" y="3246120"/>
            <a:ext cx="1335023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B5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TextBox 17474"/>
          <p:cNvSpPr txBox="1"/>
          <p:nvPr/>
        </p:nvSpPr>
        <p:spPr>
          <a:xfrm>
            <a:off x="4773168" y="3246120"/>
            <a:ext cx="1335023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GFS / HRRR forecast fields</a:t>
            </a:r>
          </a:p>
        </p:txBody>
      </p:sp>
      <p:pic>
        <p:nvPicPr>
          <p:cNvPr id="17476" name="Picture 17475" descr="arrow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79" y="3346704"/>
            <a:ext cx="146304" cy="146304"/>
          </a:xfrm>
          <a:prstGeom prst="rect">
            <a:avLst/>
          </a:prstGeom>
        </p:spPr>
      </p:pic>
      <p:sp>
        <p:nvSpPr>
          <p:cNvPr id="17477" name="Rounded Rectangle 17476"/>
          <p:cNvSpPr/>
          <p:nvPr/>
        </p:nvSpPr>
        <p:spPr>
          <a:xfrm>
            <a:off x="6291071" y="3246120"/>
            <a:ext cx="1335023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B5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TextBox 17477"/>
          <p:cNvSpPr txBox="1"/>
          <p:nvPr/>
        </p:nvSpPr>
        <p:spPr>
          <a:xfrm>
            <a:off x="6291071" y="3246120"/>
            <a:ext cx="1335023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Compact U-Net</a:t>
            </a:r>
          </a:p>
        </p:txBody>
      </p:sp>
      <p:pic>
        <p:nvPicPr>
          <p:cNvPr id="17479" name="Picture 17478" descr="arrow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4383" y="3346704"/>
            <a:ext cx="146304" cy="146304"/>
          </a:xfrm>
          <a:prstGeom prst="rect">
            <a:avLst/>
          </a:prstGeom>
        </p:spPr>
      </p:pic>
      <p:sp>
        <p:nvSpPr>
          <p:cNvPr id="17480" name="Rounded Rectangle 17479"/>
          <p:cNvSpPr/>
          <p:nvPr/>
        </p:nvSpPr>
        <p:spPr>
          <a:xfrm>
            <a:off x="7808975" y="3246120"/>
            <a:ext cx="1335023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B5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1" name="TextBox 17480"/>
          <p:cNvSpPr txBox="1"/>
          <p:nvPr/>
        </p:nvSpPr>
        <p:spPr>
          <a:xfrm>
            <a:off x="7808975" y="3246120"/>
            <a:ext cx="1335023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Lightning + VIL, 16 km</a:t>
            </a:r>
          </a:p>
        </p:txBody>
      </p:sp>
      <p:pic>
        <p:nvPicPr>
          <p:cNvPr id="17482" name="Picture 17481" descr="arrow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3" y="2112264"/>
            <a:ext cx="237744" cy="237744"/>
          </a:xfrm>
          <a:prstGeom prst="rect">
            <a:avLst/>
          </a:prstGeom>
        </p:spPr>
      </p:pic>
      <p:pic>
        <p:nvPicPr>
          <p:cNvPr id="17483" name="Picture 17482" descr="arrow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3" y="3099816"/>
            <a:ext cx="237744" cy="237744"/>
          </a:xfrm>
          <a:prstGeom prst="rect">
            <a:avLst/>
          </a:prstGeom>
        </p:spPr>
      </p:pic>
      <p:sp>
        <p:nvSpPr>
          <p:cNvPr id="17484" name="TextBox 17483"/>
          <p:cNvSpPr txBox="1"/>
          <p:nvPr/>
        </p:nvSpPr>
        <p:spPr>
          <a:xfrm>
            <a:off x="9564624" y="144475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8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4 · SEAMLESS OUTPUT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9564624" y="1682496"/>
            <a:ext cx="2286000" cy="841248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6" name="TextBox 17485"/>
          <p:cNvSpPr txBox="1"/>
          <p:nvPr/>
        </p:nvSpPr>
        <p:spPr>
          <a:xfrm>
            <a:off x="9656063" y="1719072"/>
            <a:ext cx="210312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80" i="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Switch at hour 3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80" i="0" b="0">
                <a:solidFill>
                  <a:srgbClr val="CFE0F5"/>
                </a:solidFill>
                <a:latin typeface="Calibri"/>
                <a:ea typeface="Calibri"/>
                <a:cs typeface="Calibri"/>
              </a:rPr>
              <a:t>Tier 1 for hours 1–3, Tier 2 for 4–6: the crossover measured on held-out storms.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9564624" y="2596896"/>
            <a:ext cx="228600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8" name="Oval 17487"/>
          <p:cNvSpPr/>
          <p:nvPr/>
        </p:nvSpPr>
        <p:spPr>
          <a:xfrm>
            <a:off x="9619488" y="2642615"/>
            <a:ext cx="219456" cy="219456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9" name="Picture 17488" descr="ma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8990" y="2682118"/>
            <a:ext cx="140451" cy="140451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9893807" y="259689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6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Probability maps</a:t>
            </a:r>
          </a:p>
        </p:txBody>
      </p:sp>
      <p:sp>
        <p:nvSpPr>
          <p:cNvPr id="17491" name="Rounded Rectangle 17490"/>
          <p:cNvSpPr/>
          <p:nvPr/>
        </p:nvSpPr>
        <p:spPr>
          <a:xfrm>
            <a:off x="9564624" y="2962656"/>
            <a:ext cx="228600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2" name="Oval 17491"/>
          <p:cNvSpPr/>
          <p:nvPr/>
        </p:nvSpPr>
        <p:spPr>
          <a:xfrm>
            <a:off x="9619488" y="3008375"/>
            <a:ext cx="219456" cy="219456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3" name="Picture 17492" descr="cod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58990" y="3047878"/>
            <a:ext cx="140451" cy="140451"/>
          </a:xfrm>
          <a:prstGeom prst="rect">
            <a:avLst/>
          </a:prstGeom>
        </p:spPr>
      </p:pic>
      <p:sp>
        <p:nvSpPr>
          <p:cNvPr id="17494" name="TextBox 17493"/>
          <p:cNvSpPr txBox="1"/>
          <p:nvPr/>
        </p:nvSpPr>
        <p:spPr>
          <a:xfrm>
            <a:off x="9893807" y="296265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6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JSON: hourly risk + sources used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9564624" y="3328415"/>
            <a:ext cx="228600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6" name="Oval 17495"/>
          <p:cNvSpPr/>
          <p:nvPr/>
        </p:nvSpPr>
        <p:spPr>
          <a:xfrm>
            <a:off x="9619488" y="3374135"/>
            <a:ext cx="219456" cy="219456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7" name="Picture 17496" descr="user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8990" y="3413638"/>
            <a:ext cx="140451" cy="140451"/>
          </a:xfrm>
          <a:prstGeom prst="rect">
            <a:avLst/>
          </a:prstGeom>
        </p:spPr>
      </p:pic>
      <p:sp>
        <p:nvSpPr>
          <p:cNvPr id="17498" name="TextBox 17497"/>
          <p:cNvSpPr txBox="1"/>
          <p:nvPr/>
        </p:nvSpPr>
        <p:spPr>
          <a:xfrm>
            <a:off x="9893807" y="3328415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6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Tadit web app &amp; alerts</a:t>
            </a:r>
          </a:p>
        </p:txBody>
      </p:sp>
      <p:sp>
        <p:nvSpPr>
          <p:cNvPr id="17499" name="Rounded Rectangle 17498"/>
          <p:cNvSpPr/>
          <p:nvPr/>
        </p:nvSpPr>
        <p:spPr>
          <a:xfrm>
            <a:off x="228600" y="3822191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0" name="Rounded Rectangle 17499"/>
          <p:cNvSpPr/>
          <p:nvPr/>
        </p:nvSpPr>
        <p:spPr>
          <a:xfrm>
            <a:off x="228600" y="3822191"/>
            <a:ext cx="3749039" cy="292608"/>
          </a:xfrm>
          <a:prstGeom prst="roundRect">
            <a:avLst>
              <a:gd name="adj" fmla="val 3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1" name="Rectangle 17500"/>
          <p:cNvSpPr/>
          <p:nvPr/>
        </p:nvSpPr>
        <p:spPr>
          <a:xfrm>
            <a:off x="228600" y="3986783"/>
            <a:ext cx="3749039" cy="128016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2" name="TextBox 17501"/>
          <p:cNvSpPr txBox="1"/>
          <p:nvPr/>
        </p:nvSpPr>
        <p:spPr>
          <a:xfrm>
            <a:off x="338328" y="3822191"/>
            <a:ext cx="356615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Methodology</a:t>
            </a:r>
          </a:p>
        </p:txBody>
      </p:sp>
      <p:sp>
        <p:nvSpPr>
          <p:cNvPr id="17503" name="Oval 17502"/>
          <p:cNvSpPr/>
          <p:nvPr/>
        </p:nvSpPr>
        <p:spPr>
          <a:xfrm>
            <a:off x="329184" y="4230014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4" name="Picture 17503" descr="databas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7705" y="4288536"/>
            <a:ext cx="175564" cy="175564"/>
          </a:xfrm>
          <a:prstGeom prst="rect">
            <a:avLst/>
          </a:prstGeom>
        </p:spPr>
      </p:pic>
      <p:sp>
        <p:nvSpPr>
          <p:cNvPr id="17505" name="TextBox 17504"/>
          <p:cNvSpPr txBox="1"/>
          <p:nvPr/>
        </p:nvSpPr>
        <p:spPr>
          <a:xfrm>
            <a:off x="704088" y="4169663"/>
            <a:ext cx="3182111" cy="4133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Data: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3,000 real US storm events (SEVIR) + HRRR; split by date, so test storms are unseen.</a:t>
            </a:r>
          </a:p>
        </p:txBody>
      </p:sp>
      <p:sp>
        <p:nvSpPr>
          <p:cNvPr id="17506" name="Oval 17505"/>
          <p:cNvSpPr/>
          <p:nvPr/>
        </p:nvSpPr>
        <p:spPr>
          <a:xfrm>
            <a:off x="329184" y="4643323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7" name="Picture 17506" descr="cpu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7705" y="4701844"/>
            <a:ext cx="175564" cy="175564"/>
          </a:xfrm>
          <a:prstGeom prst="rect">
            <a:avLst/>
          </a:prstGeom>
        </p:spPr>
      </p:pic>
      <p:sp>
        <p:nvSpPr>
          <p:cNvPr id="17508" name="TextBox 17507"/>
          <p:cNvSpPr txBox="1"/>
          <p:nvPr/>
        </p:nvSpPr>
        <p:spPr>
          <a:xfrm>
            <a:off x="704088" y="4582972"/>
            <a:ext cx="3182111" cy="4133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Train: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Intensity-weighted radar loss + focal lightning loss; modality dropout; one night on an RTX 5060 Ti.</a:t>
            </a:r>
          </a:p>
        </p:txBody>
      </p:sp>
      <p:sp>
        <p:nvSpPr>
          <p:cNvPr id="17509" name="Oval 17508"/>
          <p:cNvSpPr/>
          <p:nvPr/>
        </p:nvSpPr>
        <p:spPr>
          <a:xfrm>
            <a:off x="329184" y="5056631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0" name="Picture 17509" descr="searc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7705" y="5115153"/>
            <a:ext cx="175564" cy="175564"/>
          </a:xfrm>
          <a:prstGeom prst="rect">
            <a:avLst/>
          </a:prstGeom>
        </p:spPr>
      </p:pic>
      <p:sp>
        <p:nvSpPr>
          <p:cNvPr id="17511" name="TextBox 17510"/>
          <p:cNvSpPr txBox="1"/>
          <p:nvPr/>
        </p:nvSpPr>
        <p:spPr>
          <a:xfrm>
            <a:off x="704088" y="4996281"/>
            <a:ext cx="3182111" cy="4133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Evaluate: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CSI / POD / FAR per lead hour vs persistence and raw NWP; drop-a-sensor tests.</a:t>
            </a:r>
          </a:p>
        </p:txBody>
      </p:sp>
      <p:sp>
        <p:nvSpPr>
          <p:cNvPr id="17512" name="Oval 17511"/>
          <p:cNvSpPr/>
          <p:nvPr/>
        </p:nvSpPr>
        <p:spPr>
          <a:xfrm>
            <a:off x="329184" y="5469940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3" name="Picture 17512" descr="pi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7705" y="5528462"/>
            <a:ext cx="175564" cy="175564"/>
          </a:xfrm>
          <a:prstGeom prst="rect">
            <a:avLst/>
          </a:prstGeom>
        </p:spPr>
      </p:pic>
      <p:sp>
        <p:nvSpPr>
          <p:cNvPr id="17514" name="TextBox 17513"/>
          <p:cNvSpPr txBox="1"/>
          <p:nvPr/>
        </p:nvSpPr>
        <p:spPr>
          <a:xfrm>
            <a:off x="704088" y="5409590"/>
            <a:ext cx="3182111" cy="4133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India: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Run on INSAT / GK2A + GFS; checked against FY-4A satellite lightning.</a:t>
            </a:r>
          </a:p>
        </p:txBody>
      </p:sp>
      <p:sp>
        <p:nvSpPr>
          <p:cNvPr id="17515" name="Oval 17514"/>
          <p:cNvSpPr/>
          <p:nvPr/>
        </p:nvSpPr>
        <p:spPr>
          <a:xfrm>
            <a:off x="329184" y="5883249"/>
            <a:ext cx="292608" cy="29260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6" name="Picture 17515" descr="clou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7705" y="5941771"/>
            <a:ext cx="175564" cy="175564"/>
          </a:xfrm>
          <a:prstGeom prst="rect">
            <a:avLst/>
          </a:prstGeom>
        </p:spPr>
      </p:pic>
      <p:sp>
        <p:nvSpPr>
          <p:cNvPr id="17517" name="TextBox 17516"/>
          <p:cNvSpPr txBox="1"/>
          <p:nvPr/>
        </p:nvSpPr>
        <p:spPr>
          <a:xfrm>
            <a:off x="704088" y="5822899"/>
            <a:ext cx="3182111" cy="4133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Serve: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Maps + JSON exported to a static web app on Cloudflare Pages.</a:t>
            </a:r>
          </a:p>
        </p:txBody>
      </p:sp>
      <p:sp>
        <p:nvSpPr>
          <p:cNvPr id="17518" name="Rounded Rectangle 17517"/>
          <p:cNvSpPr/>
          <p:nvPr/>
        </p:nvSpPr>
        <p:spPr>
          <a:xfrm>
            <a:off x="4087368" y="3822191"/>
            <a:ext cx="4480560" cy="2450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9" name="Rounded Rectangle 17518"/>
          <p:cNvSpPr/>
          <p:nvPr/>
        </p:nvSpPr>
        <p:spPr>
          <a:xfrm>
            <a:off x="4087368" y="3822191"/>
            <a:ext cx="4480560" cy="292608"/>
          </a:xfrm>
          <a:prstGeom prst="roundRect">
            <a:avLst>
              <a:gd name="adj" fmla="val 3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0" name="Rectangle 17519"/>
          <p:cNvSpPr/>
          <p:nvPr/>
        </p:nvSpPr>
        <p:spPr>
          <a:xfrm>
            <a:off x="4087368" y="3986783"/>
            <a:ext cx="4480560" cy="128016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1" name="TextBox 17520"/>
          <p:cNvSpPr txBox="1"/>
          <p:nvPr/>
        </p:nvSpPr>
        <p:spPr>
          <a:xfrm>
            <a:off x="4197096" y="3822191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Forecasts vs Reality</a:t>
            </a:r>
          </a:p>
        </p:txBody>
      </p:sp>
      <p:sp>
        <p:nvSpPr>
          <p:cNvPr id="17522" name="TextBox 17521"/>
          <p:cNvSpPr txBox="1"/>
          <p:nvPr/>
        </p:nvSpPr>
        <p:spPr>
          <a:xfrm>
            <a:off x="4197096" y="4160520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1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Held-out US storm:</a:t>
            </a:r>
            <a:r>
              <a:rPr sz="71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forecast lightning chance (shading) vs observed flashes (o)</a:t>
            </a:r>
          </a:p>
          <a:p>
            <a:pPr algn="l">
              <a:lnSpc>
                <a:spcPct val="90000"/>
              </a:lnSpc>
            </a:pPr>
            <a:r>
              <a:rPr sz="71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Oklahoma City, 26 Aug 2019:</a:t>
            </a:r>
            <a:r>
              <a:rPr sz="71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CSI </a:t>
            </a:r>
            <a:r>
              <a:rPr sz="71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0.61 / 0.54 / 0.55</a:t>
            </a:r>
            <a:r>
              <a:rPr sz="71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for hours 1–3 vs persistence 0.52 / 0.33 / 0.18</a:t>
            </a:r>
          </a:p>
        </p:txBody>
      </p:sp>
      <p:pic>
        <p:nvPicPr>
          <p:cNvPr id="17523" name="Picture 17522" descr="fig5_lightning_ro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18084" y="4462272"/>
            <a:ext cx="3019127" cy="758952"/>
          </a:xfrm>
          <a:prstGeom prst="rect">
            <a:avLst/>
          </a:prstGeom>
        </p:spPr>
      </p:pic>
      <p:sp>
        <p:nvSpPr>
          <p:cNvPr id="17524" name="TextBox 17523"/>
          <p:cNvSpPr txBox="1"/>
          <p:nvPr/>
        </p:nvSpPr>
        <p:spPr>
          <a:xfrm>
            <a:off x="4197096" y="5276088"/>
            <a:ext cx="4261104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India, Bhubaneswar 2 Sep 2023:</a:t>
            </a:r>
            <a:r>
              <a:rPr sz="7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hours 1–3 from satellite + GFS only (★ city)</a:t>
            </a:r>
          </a:p>
        </p:txBody>
      </p:sp>
      <p:pic>
        <p:nvPicPr>
          <p:cNvPr id="17525" name="Picture 17524" descr="fig6_bbsr_h12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22206" y="5440679"/>
            <a:ext cx="2410883" cy="777240"/>
          </a:xfrm>
          <a:prstGeom prst="rect">
            <a:avLst/>
          </a:prstGeom>
        </p:spPr>
      </p:pic>
      <p:sp>
        <p:nvSpPr>
          <p:cNvPr id="17526" name="Rounded Rectangle 17525"/>
          <p:cNvSpPr/>
          <p:nvPr/>
        </p:nvSpPr>
        <p:spPr>
          <a:xfrm>
            <a:off x="8677656" y="3822191"/>
            <a:ext cx="3282696" cy="2450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7" name="Rounded Rectangle 17526"/>
          <p:cNvSpPr/>
          <p:nvPr/>
        </p:nvSpPr>
        <p:spPr>
          <a:xfrm>
            <a:off x="8677656" y="3822191"/>
            <a:ext cx="3282696" cy="292608"/>
          </a:xfrm>
          <a:prstGeom prst="roundRect">
            <a:avLst>
              <a:gd name="adj" fmla="val 3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8" name="Rectangle 17527"/>
          <p:cNvSpPr/>
          <p:nvPr/>
        </p:nvSpPr>
        <p:spPr>
          <a:xfrm>
            <a:off x="8677656" y="3986783"/>
            <a:ext cx="3282696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9" name="TextBox 17528"/>
          <p:cNvSpPr txBox="1"/>
          <p:nvPr/>
        </p:nvSpPr>
        <p:spPr>
          <a:xfrm>
            <a:off x="8787384" y="3822191"/>
            <a:ext cx="3099815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Technology Stack</a:t>
            </a:r>
          </a:p>
        </p:txBody>
      </p:sp>
      <p:sp>
        <p:nvSpPr>
          <p:cNvPr id="17530" name="TextBox 17529"/>
          <p:cNvSpPr txBox="1"/>
          <p:nvPr/>
        </p:nvSpPr>
        <p:spPr>
          <a:xfrm>
            <a:off x="8787384" y="4206240"/>
            <a:ext cx="3099815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AI / ML</a:t>
            </a:r>
          </a:p>
        </p:txBody>
      </p:sp>
      <p:sp>
        <p:nvSpPr>
          <p:cNvPr id="17531" name="Rounded Rectangle 17530"/>
          <p:cNvSpPr/>
          <p:nvPr/>
        </p:nvSpPr>
        <p:spPr>
          <a:xfrm>
            <a:off x="8787384" y="4370831"/>
            <a:ext cx="453542" cy="192024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2" name="TextBox 17531"/>
          <p:cNvSpPr txBox="1"/>
          <p:nvPr/>
        </p:nvSpPr>
        <p:spPr>
          <a:xfrm>
            <a:off x="8787384" y="4370831"/>
            <a:ext cx="453542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Python</a:t>
            </a:r>
          </a:p>
        </p:txBody>
      </p:sp>
      <p:sp>
        <p:nvSpPr>
          <p:cNvPr id="17533" name="Rounded Rectangle 17532"/>
          <p:cNvSpPr/>
          <p:nvPr/>
        </p:nvSpPr>
        <p:spPr>
          <a:xfrm>
            <a:off x="9295790" y="4370831"/>
            <a:ext cx="504748" cy="192024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4" name="TextBox 17533"/>
          <p:cNvSpPr txBox="1"/>
          <p:nvPr/>
        </p:nvSpPr>
        <p:spPr>
          <a:xfrm>
            <a:off x="9295790" y="4370831"/>
            <a:ext cx="504748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PyTorch</a:t>
            </a:r>
          </a:p>
        </p:txBody>
      </p:sp>
      <p:sp>
        <p:nvSpPr>
          <p:cNvPr id="17535" name="Rounded Rectangle 17534"/>
          <p:cNvSpPr/>
          <p:nvPr/>
        </p:nvSpPr>
        <p:spPr>
          <a:xfrm>
            <a:off x="9855403" y="4370831"/>
            <a:ext cx="402336" cy="192024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6" name="TextBox 17535"/>
          <p:cNvSpPr txBox="1"/>
          <p:nvPr/>
        </p:nvSpPr>
        <p:spPr>
          <a:xfrm>
            <a:off x="9855403" y="4370831"/>
            <a:ext cx="402336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NumPy</a:t>
            </a:r>
          </a:p>
        </p:txBody>
      </p:sp>
      <p:sp>
        <p:nvSpPr>
          <p:cNvPr id="17537" name="Rounded Rectangle 17536"/>
          <p:cNvSpPr/>
          <p:nvPr/>
        </p:nvSpPr>
        <p:spPr>
          <a:xfrm>
            <a:off x="10312603" y="4370831"/>
            <a:ext cx="351129" cy="192024"/>
          </a:xfrm>
          <a:prstGeom prst="roundRect">
            <a:avLst>
              <a:gd name="adj" fmla="val 50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8" name="TextBox 17537"/>
          <p:cNvSpPr txBox="1"/>
          <p:nvPr/>
        </p:nvSpPr>
        <p:spPr>
          <a:xfrm>
            <a:off x="10312603" y="4370831"/>
            <a:ext cx="351129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bf16</a:t>
            </a:r>
          </a:p>
        </p:txBody>
      </p:sp>
      <p:sp>
        <p:nvSpPr>
          <p:cNvPr id="17539" name="TextBox 17538"/>
          <p:cNvSpPr txBox="1"/>
          <p:nvPr/>
        </p:nvSpPr>
        <p:spPr>
          <a:xfrm>
            <a:off x="8787384" y="4636007"/>
            <a:ext cx="3099815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DATA</a:t>
            </a:r>
          </a:p>
        </p:txBody>
      </p:sp>
      <p:sp>
        <p:nvSpPr>
          <p:cNvPr id="17540" name="Rounded Rectangle 17539"/>
          <p:cNvSpPr/>
          <p:nvPr/>
        </p:nvSpPr>
        <p:spPr>
          <a:xfrm>
            <a:off x="8787384" y="4800599"/>
            <a:ext cx="453542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1" name="TextBox 17540"/>
          <p:cNvSpPr txBox="1"/>
          <p:nvPr/>
        </p:nvSpPr>
        <p:spPr>
          <a:xfrm>
            <a:off x="8787384" y="4800599"/>
            <a:ext cx="453542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xarray</a:t>
            </a:r>
          </a:p>
        </p:txBody>
      </p:sp>
      <p:sp>
        <p:nvSpPr>
          <p:cNvPr id="17542" name="Rounded Rectangle 17541"/>
          <p:cNvSpPr/>
          <p:nvPr/>
        </p:nvSpPr>
        <p:spPr>
          <a:xfrm>
            <a:off x="9295790" y="4800599"/>
            <a:ext cx="351129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3" name="TextBox 17542"/>
          <p:cNvSpPr txBox="1"/>
          <p:nvPr/>
        </p:nvSpPr>
        <p:spPr>
          <a:xfrm>
            <a:off x="9295790" y="4800599"/>
            <a:ext cx="351129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h5py</a:t>
            </a:r>
          </a:p>
        </p:txBody>
      </p:sp>
      <p:sp>
        <p:nvSpPr>
          <p:cNvPr id="17544" name="Rounded Rectangle 17543"/>
          <p:cNvSpPr/>
          <p:nvPr/>
        </p:nvSpPr>
        <p:spPr>
          <a:xfrm>
            <a:off x="9701784" y="4800599"/>
            <a:ext cx="351129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5" name="TextBox 17544"/>
          <p:cNvSpPr txBox="1"/>
          <p:nvPr/>
        </p:nvSpPr>
        <p:spPr>
          <a:xfrm>
            <a:off x="9701784" y="4800599"/>
            <a:ext cx="351129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s3fs</a:t>
            </a:r>
          </a:p>
        </p:txBody>
      </p:sp>
      <p:sp>
        <p:nvSpPr>
          <p:cNvPr id="17546" name="Rounded Rectangle 17545"/>
          <p:cNvSpPr/>
          <p:nvPr/>
        </p:nvSpPr>
        <p:spPr>
          <a:xfrm>
            <a:off x="10107777" y="4800599"/>
            <a:ext cx="453542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7" name="TextBox 17546"/>
          <p:cNvSpPr txBox="1"/>
          <p:nvPr/>
        </p:nvSpPr>
        <p:spPr>
          <a:xfrm>
            <a:off x="10107777" y="4800599"/>
            <a:ext cx="453542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Herbie</a:t>
            </a:r>
          </a:p>
        </p:txBody>
      </p:sp>
      <p:sp>
        <p:nvSpPr>
          <p:cNvPr id="17548" name="Rounded Rectangle 17547"/>
          <p:cNvSpPr/>
          <p:nvPr/>
        </p:nvSpPr>
        <p:spPr>
          <a:xfrm>
            <a:off x="10616184" y="4800599"/>
            <a:ext cx="453542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9" name="TextBox 17548"/>
          <p:cNvSpPr txBox="1"/>
          <p:nvPr/>
        </p:nvSpPr>
        <p:spPr>
          <a:xfrm>
            <a:off x="10616184" y="4800599"/>
            <a:ext cx="453542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pyproj</a:t>
            </a:r>
          </a:p>
        </p:txBody>
      </p:sp>
      <p:sp>
        <p:nvSpPr>
          <p:cNvPr id="17550" name="Rounded Rectangle 17549"/>
          <p:cNvSpPr/>
          <p:nvPr/>
        </p:nvSpPr>
        <p:spPr>
          <a:xfrm>
            <a:off x="11124590" y="4800599"/>
            <a:ext cx="453542" cy="192024"/>
          </a:xfrm>
          <a:prstGeom prst="roundRect">
            <a:avLst>
              <a:gd name="adj" fmla="val 50000"/>
            </a:avLst>
          </a:prstGeom>
          <a:solidFill>
            <a:srgbClr val="E4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1" name="TextBox 17550"/>
          <p:cNvSpPr txBox="1"/>
          <p:nvPr/>
        </p:nvSpPr>
        <p:spPr>
          <a:xfrm>
            <a:off x="11124590" y="4800599"/>
            <a:ext cx="453542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cfgrib</a:t>
            </a:r>
          </a:p>
        </p:txBody>
      </p:sp>
      <p:sp>
        <p:nvSpPr>
          <p:cNvPr id="17552" name="TextBox 17551"/>
          <p:cNvSpPr txBox="1"/>
          <p:nvPr/>
        </p:nvSpPr>
        <p:spPr>
          <a:xfrm>
            <a:off x="8787384" y="5065775"/>
            <a:ext cx="3099815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WEB</a:t>
            </a:r>
          </a:p>
        </p:txBody>
      </p:sp>
      <p:sp>
        <p:nvSpPr>
          <p:cNvPr id="17553" name="Rounded Rectangle 17552"/>
          <p:cNvSpPr/>
          <p:nvPr/>
        </p:nvSpPr>
        <p:spPr>
          <a:xfrm>
            <a:off x="8787384" y="5230367"/>
            <a:ext cx="402336" cy="192024"/>
          </a:xfrm>
          <a:prstGeom prst="roundRect">
            <a:avLst>
              <a:gd name="adj" fmla="val 50000"/>
            </a:avLst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4" name="TextBox 17553"/>
          <p:cNvSpPr txBox="1"/>
          <p:nvPr/>
        </p:nvSpPr>
        <p:spPr>
          <a:xfrm>
            <a:off x="8787384" y="5230367"/>
            <a:ext cx="402336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React</a:t>
            </a:r>
          </a:p>
        </p:txBody>
      </p:sp>
      <p:sp>
        <p:nvSpPr>
          <p:cNvPr id="17555" name="Rounded Rectangle 17554"/>
          <p:cNvSpPr/>
          <p:nvPr/>
        </p:nvSpPr>
        <p:spPr>
          <a:xfrm>
            <a:off x="9244584" y="5230367"/>
            <a:ext cx="658368" cy="192024"/>
          </a:xfrm>
          <a:prstGeom prst="roundRect">
            <a:avLst>
              <a:gd name="adj" fmla="val 50000"/>
            </a:avLst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6" name="TextBox 17555"/>
          <p:cNvSpPr txBox="1"/>
          <p:nvPr/>
        </p:nvSpPr>
        <p:spPr>
          <a:xfrm>
            <a:off x="9244584" y="5230367"/>
            <a:ext cx="658368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TypeScript</a:t>
            </a:r>
          </a:p>
        </p:txBody>
      </p:sp>
      <p:sp>
        <p:nvSpPr>
          <p:cNvPr id="17557" name="Rounded Rectangle 17556"/>
          <p:cNvSpPr/>
          <p:nvPr/>
        </p:nvSpPr>
        <p:spPr>
          <a:xfrm>
            <a:off x="9957815" y="5230367"/>
            <a:ext cx="351129" cy="192024"/>
          </a:xfrm>
          <a:prstGeom prst="roundRect">
            <a:avLst>
              <a:gd name="adj" fmla="val 50000"/>
            </a:avLst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8" name="TextBox 17557"/>
          <p:cNvSpPr txBox="1"/>
          <p:nvPr/>
        </p:nvSpPr>
        <p:spPr>
          <a:xfrm>
            <a:off x="9957815" y="5230367"/>
            <a:ext cx="351129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Vite</a:t>
            </a:r>
          </a:p>
        </p:txBody>
      </p:sp>
      <p:sp>
        <p:nvSpPr>
          <p:cNvPr id="17559" name="Rounded Rectangle 17558"/>
          <p:cNvSpPr/>
          <p:nvPr/>
        </p:nvSpPr>
        <p:spPr>
          <a:xfrm>
            <a:off x="10363809" y="5230367"/>
            <a:ext cx="709574" cy="192024"/>
          </a:xfrm>
          <a:prstGeom prst="roundRect">
            <a:avLst>
              <a:gd name="adj" fmla="val 50000"/>
            </a:avLst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60" name="TextBox 17559"/>
          <p:cNvSpPr txBox="1"/>
          <p:nvPr/>
        </p:nvSpPr>
        <p:spPr>
          <a:xfrm>
            <a:off x="10363809" y="5230367"/>
            <a:ext cx="709574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MapLibre GL</a:t>
            </a:r>
          </a:p>
        </p:txBody>
      </p:sp>
      <p:sp>
        <p:nvSpPr>
          <p:cNvPr id="17561" name="TextBox 17560"/>
          <p:cNvSpPr txBox="1"/>
          <p:nvPr/>
        </p:nvSpPr>
        <p:spPr>
          <a:xfrm>
            <a:off x="8787384" y="5495543"/>
            <a:ext cx="3099815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F37021"/>
                </a:solidFill>
                <a:latin typeface="Segoe UI"/>
                <a:ea typeface="Segoe UI"/>
                <a:cs typeface="Segoe UI"/>
              </a:rPr>
              <a:t>INFRA</a:t>
            </a:r>
          </a:p>
        </p:txBody>
      </p:sp>
      <p:sp>
        <p:nvSpPr>
          <p:cNvPr id="17562" name="Rounded Rectangle 17561"/>
          <p:cNvSpPr/>
          <p:nvPr/>
        </p:nvSpPr>
        <p:spPr>
          <a:xfrm>
            <a:off x="8787384" y="5660135"/>
            <a:ext cx="811987" cy="192024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63" name="TextBox 17562"/>
          <p:cNvSpPr txBox="1"/>
          <p:nvPr/>
        </p:nvSpPr>
        <p:spPr>
          <a:xfrm>
            <a:off x="8787384" y="5660135"/>
            <a:ext cx="811987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AWS Open Data</a:t>
            </a:r>
          </a:p>
        </p:txBody>
      </p:sp>
      <p:sp>
        <p:nvSpPr>
          <p:cNvPr id="17564" name="Rounded Rectangle 17563"/>
          <p:cNvSpPr/>
          <p:nvPr/>
        </p:nvSpPr>
        <p:spPr>
          <a:xfrm>
            <a:off x="9654235" y="5660135"/>
            <a:ext cx="965606" cy="192024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65" name="TextBox 17564"/>
          <p:cNvSpPr txBox="1"/>
          <p:nvPr/>
        </p:nvSpPr>
        <p:spPr>
          <a:xfrm>
            <a:off x="9654235" y="5660135"/>
            <a:ext cx="965606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Cloudflare Pages</a:t>
            </a:r>
          </a:p>
        </p:txBody>
      </p:sp>
      <p:sp>
        <p:nvSpPr>
          <p:cNvPr id="17566" name="Rounded Rectangle 17565"/>
          <p:cNvSpPr/>
          <p:nvPr/>
        </p:nvSpPr>
        <p:spPr>
          <a:xfrm>
            <a:off x="10674705" y="5660135"/>
            <a:ext cx="1119225" cy="192024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67" name="TextBox 17566"/>
          <p:cNvSpPr txBox="1"/>
          <p:nvPr/>
        </p:nvSpPr>
        <p:spPr>
          <a:xfrm>
            <a:off x="10674705" y="5660135"/>
            <a:ext cx="1119225" cy="1920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2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RTX 5060 Ti (16 GB)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097280"/>
            <a:ext cx="3837431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228600" y="1097280"/>
            <a:ext cx="3837431" cy="438912"/>
          </a:xfrm>
          <a:prstGeom prst="roundRect">
            <a:avLst>
              <a:gd name="adj" fmla="val 2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ectangle 17411"/>
          <p:cNvSpPr/>
          <p:nvPr/>
        </p:nvSpPr>
        <p:spPr>
          <a:xfrm>
            <a:off x="228600" y="1371600"/>
            <a:ext cx="3837431" cy="164592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1188720"/>
            <a:ext cx="256032" cy="25603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704088" y="1124712"/>
            <a:ext cx="3288791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Technical Feasibility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04088" y="1344168"/>
            <a:ext cx="3288791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i="1" b="0">
                <a:solidFill>
                  <a:srgbClr val="F2F6FB"/>
                </a:solidFill>
                <a:latin typeface="Segoe UI"/>
                <a:ea typeface="Segoe UI"/>
                <a:cs typeface="Segoe UI"/>
              </a:rPr>
              <a:t>Built, trained and tested today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320040" y="1632204"/>
            <a:ext cx="274320" cy="27432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7" name="Picture 17416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" y="1687068"/>
            <a:ext cx="164592" cy="164592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667512" y="1581912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Working two-tier AI: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60M-parameter fusion U-Net for 0–3 h plus an NWP post-processor for 3–6 h, trained on 3,000 real storm events.</a:t>
            </a:r>
          </a:p>
        </p:txBody>
      </p:sp>
      <p:sp>
        <p:nvSpPr>
          <p:cNvPr id="2" name="Freeform 1"/>
          <p:cNvSpPr/>
          <p:nvPr/>
        </p:nvSpPr>
        <p:spPr>
          <a:xfrm>
            <a:off x="667512" y="1956816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Oval 17418"/>
          <p:cNvSpPr/>
          <p:nvPr/>
        </p:nvSpPr>
        <p:spPr>
          <a:xfrm>
            <a:off x="320040" y="2007108"/>
            <a:ext cx="274320" cy="27432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0" name="Picture 17419" descr="tim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" y="2061972"/>
            <a:ext cx="164592" cy="164592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667512" y="1956816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Fast: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 full 0–6 h forecast takes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a few minutes per city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mostly data download; the model itself runs in seconds.</a:t>
            </a:r>
          </a:p>
        </p:txBody>
      </p:sp>
      <p:sp>
        <p:nvSpPr>
          <p:cNvPr id="3" name="Freeform 2"/>
          <p:cNvSpPr/>
          <p:nvPr/>
        </p:nvSpPr>
        <p:spPr>
          <a:xfrm>
            <a:off x="667512" y="2331720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Oval 17421"/>
          <p:cNvSpPr/>
          <p:nvPr/>
        </p:nvSpPr>
        <p:spPr>
          <a:xfrm>
            <a:off x="320040" y="2382012"/>
            <a:ext cx="274320" cy="27432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3" name="Picture 17422" descr="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2436876"/>
            <a:ext cx="164592" cy="164592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667512" y="2331720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Light: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trained overnight on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one 16 GB consumer GPU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; the deployed model file is 120 MB.</a:t>
            </a:r>
          </a:p>
        </p:txBody>
      </p:sp>
      <p:sp>
        <p:nvSpPr>
          <p:cNvPr id="4" name="Freeform 3"/>
          <p:cNvSpPr/>
          <p:nvPr/>
        </p:nvSpPr>
        <p:spPr>
          <a:xfrm>
            <a:off x="667512" y="2706624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Oval 17424"/>
          <p:cNvSpPr/>
          <p:nvPr/>
        </p:nvSpPr>
        <p:spPr>
          <a:xfrm>
            <a:off x="320040" y="2756916"/>
            <a:ext cx="274320" cy="27432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6" name="Picture 17425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" y="2811780"/>
            <a:ext cx="164592" cy="164592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667512" y="2706624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Reliable build: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open-source Python / PyTorch stack, covered by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38 automated tests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175760" y="1097280"/>
            <a:ext cx="3837431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Rounded Rectangle 17428"/>
          <p:cNvSpPr/>
          <p:nvPr/>
        </p:nvSpPr>
        <p:spPr>
          <a:xfrm>
            <a:off x="4175760" y="1097280"/>
            <a:ext cx="3837431" cy="438912"/>
          </a:xfrm>
          <a:prstGeom prst="roundRect">
            <a:avLst>
              <a:gd name="adj" fmla="val 22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Rectangle 17429"/>
          <p:cNvSpPr/>
          <p:nvPr/>
        </p:nvSpPr>
        <p:spPr>
          <a:xfrm>
            <a:off x="4175760" y="1371600"/>
            <a:ext cx="3837431" cy="164592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pl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3775" y="1188720"/>
            <a:ext cx="256032" cy="256032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4651247" y="1124712"/>
            <a:ext cx="3288791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Operational Feasibility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651247" y="1344168"/>
            <a:ext cx="3288791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i="1" b="0">
                <a:solidFill>
                  <a:srgbClr val="F2F6FB"/>
                </a:solidFill>
                <a:latin typeface="Segoe UI"/>
                <a:ea typeface="Segoe UI"/>
                <a:cs typeface="Segoe UI"/>
              </a:rPr>
              <a:t>Runs on India’s own data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4267199" y="1632204"/>
            <a:ext cx="274320" cy="27432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s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2064" y="1687068"/>
            <a:ext cx="164592" cy="164592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4614672" y="1581912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Indian data readers: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INSAT, IMD radar, GFS and strike feeds;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INSAT and GFS verified on real files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Freeform 4"/>
          <p:cNvSpPr/>
          <p:nvPr/>
        </p:nvSpPr>
        <p:spPr>
          <a:xfrm>
            <a:off x="4614672" y="1956816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Oval 17436"/>
          <p:cNvSpPr/>
          <p:nvPr/>
        </p:nvSpPr>
        <p:spPr>
          <a:xfrm>
            <a:off x="4267199" y="2007108"/>
            <a:ext cx="274320" cy="27432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shield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2064" y="2061972"/>
            <a:ext cx="164592" cy="164592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4614672" y="1956816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INSAT cross-checked: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our INSAT reader matches the GK2A satellite on the same scene (r = 0.87).</a:t>
            </a:r>
          </a:p>
        </p:txBody>
      </p:sp>
      <p:sp>
        <p:nvSpPr>
          <p:cNvPr id="8" name="Freeform 7"/>
          <p:cNvSpPr/>
          <p:nvPr/>
        </p:nvSpPr>
        <p:spPr>
          <a:xfrm>
            <a:off x="4614672" y="2331720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Oval 17439"/>
          <p:cNvSpPr/>
          <p:nvPr/>
        </p:nvSpPr>
        <p:spPr>
          <a:xfrm>
            <a:off x="4267199" y="2382012"/>
            <a:ext cx="274320" cy="27432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1" name="Picture 17440" descr="wifio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22064" y="2436876"/>
            <a:ext cx="164592" cy="164592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4614672" y="2331720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Works with gaps: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runs on whichever sources are live, and every output lists what it used.</a:t>
            </a:r>
          </a:p>
        </p:txBody>
      </p:sp>
      <p:sp>
        <p:nvSpPr>
          <p:cNvPr id="9" name="Freeform 8"/>
          <p:cNvSpPr/>
          <p:nvPr/>
        </p:nvSpPr>
        <p:spPr>
          <a:xfrm>
            <a:off x="4614672" y="2706624"/>
            <a:ext cx="3288791" cy="0"/>
          </a:xfrm>
          <a:custGeom>
            <a:avLst/>
            <a:gdLst/>
            <a:ahLst/>
            <a:cxnLst/>
            <a:rect l="l" t="t" r="r" b="b"/>
            <a:pathLst>
              <a:path w="3288791" h="0">
                <a:moveTo>
                  <a:pt x="0" y="0"/>
                </a:moveTo>
                <a:lnTo>
                  <a:pt x="3288791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Oval 17442"/>
          <p:cNvSpPr/>
          <p:nvPr/>
        </p:nvSpPr>
        <p:spPr>
          <a:xfrm>
            <a:off x="4267199" y="2756916"/>
            <a:ext cx="274320" cy="27432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ma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22064" y="2811780"/>
            <a:ext cx="164592" cy="164592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4614672" y="2706624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Easy to plug in: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standard map + JSON outputs for IMD’s nowcast portal and alert apps; the web viewer needs no backend.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8122920" y="1097280"/>
            <a:ext cx="3837431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Rounded Rectangle 17446"/>
          <p:cNvSpPr/>
          <p:nvPr/>
        </p:nvSpPr>
        <p:spPr>
          <a:xfrm>
            <a:off x="8122920" y="1097280"/>
            <a:ext cx="3837431" cy="438912"/>
          </a:xfrm>
          <a:prstGeom prst="roundRect">
            <a:avLst>
              <a:gd name="adj" fmla="val 22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Rectangle 17447"/>
          <p:cNvSpPr/>
          <p:nvPr/>
        </p:nvSpPr>
        <p:spPr>
          <a:xfrm>
            <a:off x="8122920" y="1371600"/>
            <a:ext cx="3837431" cy="16459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9" name="Picture 17448" descr="rupe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0936" y="1188720"/>
            <a:ext cx="256032" cy="256032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8598408" y="1124712"/>
            <a:ext cx="3288791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Economic Viability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598408" y="1344168"/>
            <a:ext cx="3288791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i="1" b="0">
                <a:solidFill>
                  <a:srgbClr val="F2F6FB"/>
                </a:solidFill>
                <a:latin typeface="Segoe UI"/>
                <a:ea typeface="Segoe UI"/>
                <a:cs typeface="Segoe UI"/>
              </a:rPr>
              <a:t>Low cost, scalable, policy-aligned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8214359" y="1632204"/>
            <a:ext cx="274320" cy="27432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3" name="Picture 17452" descr="datab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9224" y="1687068"/>
            <a:ext cx="164592" cy="164592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561832" y="1581912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No new hardware: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reuses radar, satellite and NWP data IMD already collects; open GK2A / GFS as backup.</a:t>
            </a:r>
          </a:p>
        </p:txBody>
      </p:sp>
      <p:sp>
        <p:nvSpPr>
          <p:cNvPr id="13" name="Freeform 12"/>
          <p:cNvSpPr/>
          <p:nvPr/>
        </p:nvSpPr>
        <p:spPr>
          <a:xfrm>
            <a:off x="8561832" y="1956816"/>
            <a:ext cx="3288792" cy="0"/>
          </a:xfrm>
          <a:custGeom>
            <a:avLst/>
            <a:gdLst/>
            <a:ahLst/>
            <a:cxnLst/>
            <a:rect l="l" t="t" r="r" b="b"/>
            <a:pathLst>
              <a:path w="3288792" h="0">
                <a:moveTo>
                  <a:pt x="0" y="0"/>
                </a:moveTo>
                <a:lnTo>
                  <a:pt x="3288792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Oval 17454"/>
          <p:cNvSpPr/>
          <p:nvPr/>
        </p:nvSpPr>
        <p:spPr>
          <a:xfrm>
            <a:off x="8214359" y="2007108"/>
            <a:ext cx="274320" cy="27432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6" name="Picture 17455" descr="clou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9224" y="2061972"/>
            <a:ext cx="164592" cy="164592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8561832" y="1956816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Near-zero serving cost: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forecasts are static files served from a free CDN (Cloudflare Pages).</a:t>
            </a:r>
          </a:p>
        </p:txBody>
      </p:sp>
      <p:sp>
        <p:nvSpPr>
          <p:cNvPr id="14" name="Freeform 13"/>
          <p:cNvSpPr/>
          <p:nvPr/>
        </p:nvSpPr>
        <p:spPr>
          <a:xfrm>
            <a:off x="8561832" y="2331720"/>
            <a:ext cx="3288792" cy="0"/>
          </a:xfrm>
          <a:custGeom>
            <a:avLst/>
            <a:gdLst/>
            <a:ahLst/>
            <a:cxnLst/>
            <a:rect l="l" t="t" r="r" b="b"/>
            <a:pathLst>
              <a:path w="3288792" h="0">
                <a:moveTo>
                  <a:pt x="0" y="0"/>
                </a:moveTo>
                <a:lnTo>
                  <a:pt x="3288792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Oval 17457"/>
          <p:cNvSpPr/>
          <p:nvPr/>
        </p:nvSpPr>
        <p:spPr>
          <a:xfrm>
            <a:off x="8214359" y="2382012"/>
            <a:ext cx="274320" cy="27432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9" name="Picture 17458" descr="tren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9224" y="2436876"/>
            <a:ext cx="164592" cy="164592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8561832" y="2331720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Scales simply: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≈30 tiles of 384 km cover India, and one GPU can refresh them all.</a:t>
            </a:r>
          </a:p>
        </p:txBody>
      </p:sp>
      <p:sp>
        <p:nvSpPr>
          <p:cNvPr id="15" name="Freeform 14"/>
          <p:cNvSpPr/>
          <p:nvPr/>
        </p:nvSpPr>
        <p:spPr>
          <a:xfrm>
            <a:off x="8561832" y="2706624"/>
            <a:ext cx="3288792" cy="0"/>
          </a:xfrm>
          <a:custGeom>
            <a:avLst/>
            <a:gdLst/>
            <a:ahLst/>
            <a:cxnLst/>
            <a:rect l="l" t="t" r="r" b="b"/>
            <a:pathLst>
              <a:path w="3288792" h="0">
                <a:moveTo>
                  <a:pt x="0" y="0"/>
                </a:moveTo>
                <a:lnTo>
                  <a:pt x="3288792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Oval 17460"/>
          <p:cNvSpPr/>
          <p:nvPr/>
        </p:nvSpPr>
        <p:spPr>
          <a:xfrm>
            <a:off x="8214359" y="2756916"/>
            <a:ext cx="274320" cy="27432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2" name="Picture 17461" descr="landmar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9224" y="2811780"/>
            <a:ext cx="164592" cy="164592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8561832" y="2706624"/>
            <a:ext cx="3307079" cy="3749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Policy fit: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supports MoES’s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Mission Mausam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(₹2,000 cr) goals of more frequent nowcasts and no undetected weather events.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228600" y="3236976"/>
            <a:ext cx="5285232" cy="292608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5" name="Picture 17464" descr="aler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6616" y="3282696"/>
            <a:ext cx="201168" cy="201168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640080" y="3236976"/>
            <a:ext cx="482803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Potential Challenges &amp; Risks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6428232" y="3236976"/>
            <a:ext cx="5532120" cy="292608"/>
          </a:xfrm>
          <a:prstGeom prst="roundRect">
            <a:avLst>
              <a:gd name="adj" fmla="val 5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8" name="Picture 17467" descr="shield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3282696"/>
            <a:ext cx="201168" cy="201168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6839712" y="3236976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Strategies to Overcome Them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5605272" y="323697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1" name="Picture 17470" descr="arrow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61304" y="3273552"/>
            <a:ext cx="219456" cy="219456"/>
          </a:xfrm>
          <a:prstGeom prst="rect">
            <a:avLst/>
          </a:prstGeom>
        </p:spPr>
      </p:pic>
      <p:sp>
        <p:nvSpPr>
          <p:cNvPr id="17472" name="Rounded Rectangle 17471"/>
          <p:cNvSpPr/>
          <p:nvPr/>
        </p:nvSpPr>
        <p:spPr>
          <a:xfrm>
            <a:off x="228600" y="3602736"/>
            <a:ext cx="5285232" cy="457200"/>
          </a:xfrm>
          <a:prstGeom prst="roundRect">
            <a:avLst>
              <a:gd name="adj" fmla="val 18000"/>
            </a:avLst>
          </a:prstGeom>
          <a:solidFill>
            <a:srgbClr val="FDF1F1"/>
          </a:solidFill>
          <a:ln w="9525">
            <a:solidFill>
              <a:srgbClr val="F2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Oval 17472"/>
          <p:cNvSpPr/>
          <p:nvPr/>
        </p:nvSpPr>
        <p:spPr>
          <a:xfrm>
            <a:off x="301752" y="3685031"/>
            <a:ext cx="292608" cy="29260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301752" y="368503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685800" y="3621024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Limited access to data: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Indian lightning archives (ILLN / ILDN) and radar volumes are not openly available, so early findings may be misleading.</a:t>
            </a:r>
          </a:p>
        </p:txBody>
      </p:sp>
      <p:sp>
        <p:nvSpPr>
          <p:cNvPr id="16" name="Freeform 15"/>
          <p:cNvSpPr/>
          <p:nvPr/>
        </p:nvSpPr>
        <p:spPr>
          <a:xfrm>
            <a:off x="5513832" y="3831335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9AA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Oval 17475"/>
          <p:cNvSpPr/>
          <p:nvPr/>
        </p:nvSpPr>
        <p:spPr>
          <a:xfrm>
            <a:off x="5797296" y="3657599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7" name="Picture 17476" descr="search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70265" y="3730569"/>
            <a:ext cx="201533" cy="201533"/>
          </a:xfrm>
          <a:prstGeom prst="rect">
            <a:avLst/>
          </a:prstGeom>
        </p:spPr>
      </p:pic>
      <p:sp>
        <p:nvSpPr>
          <p:cNvPr id="17478" name="Rounded Rectangle 17477"/>
          <p:cNvSpPr/>
          <p:nvPr/>
        </p:nvSpPr>
        <p:spPr>
          <a:xfrm>
            <a:off x="6428232" y="3602736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EF7EF"/>
          </a:solidFill>
          <a:ln w="9525">
            <a:solidFill>
              <a:srgbClr val="C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9" name="TextBox 17478"/>
          <p:cNvSpPr txBox="1"/>
          <p:nvPr/>
        </p:nvSpPr>
        <p:spPr>
          <a:xfrm>
            <a:off x="6537960" y="3621024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Improves with Indian data: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ILDN (Tripura University) has offered to partner and share lightning data for SIH-2026; </a:t>
            </a: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as the model gets validated data, it recalibrates and gets more accurate.</a:t>
            </a:r>
          </a:p>
        </p:txBody>
      </p:sp>
      <p:sp>
        <p:nvSpPr>
          <p:cNvPr id="17480" name="Oval 17479"/>
          <p:cNvSpPr/>
          <p:nvPr/>
        </p:nvSpPr>
        <p:spPr>
          <a:xfrm>
            <a:off x="11594592" y="3685031"/>
            <a:ext cx="292608" cy="292608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1" name="TextBox 17480"/>
          <p:cNvSpPr txBox="1"/>
          <p:nvPr/>
        </p:nvSpPr>
        <p:spPr>
          <a:xfrm>
            <a:off x="11594592" y="368503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228600" y="4101084"/>
            <a:ext cx="5285232" cy="457200"/>
          </a:xfrm>
          <a:prstGeom prst="roundRect">
            <a:avLst>
              <a:gd name="adj" fmla="val 18000"/>
            </a:avLst>
          </a:prstGeom>
          <a:solidFill>
            <a:srgbClr val="FDF1F1"/>
          </a:solidFill>
          <a:ln w="9525">
            <a:solidFill>
              <a:srgbClr val="F2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3" name="Oval 17482"/>
          <p:cNvSpPr/>
          <p:nvPr/>
        </p:nvSpPr>
        <p:spPr>
          <a:xfrm>
            <a:off x="301752" y="4183380"/>
            <a:ext cx="292608" cy="29260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4" name="TextBox 17483"/>
          <p:cNvSpPr txBox="1"/>
          <p:nvPr/>
        </p:nvSpPr>
        <p:spPr>
          <a:xfrm>
            <a:off x="301752" y="41833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685800" y="4119372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Trained on US storms, used in India: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monsoon storms, terrain and INSAT’s slower scans differ from the US training data.</a:t>
            </a:r>
          </a:p>
        </p:txBody>
      </p:sp>
      <p:sp>
        <p:nvSpPr>
          <p:cNvPr id="17" name="Freeform 16"/>
          <p:cNvSpPr/>
          <p:nvPr/>
        </p:nvSpPr>
        <p:spPr>
          <a:xfrm>
            <a:off x="5513832" y="4329684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9AA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6" name="Oval 17485"/>
          <p:cNvSpPr/>
          <p:nvPr/>
        </p:nvSpPr>
        <p:spPr>
          <a:xfrm>
            <a:off x="5797296" y="4155948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7" name="Picture 17486" descr="glob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70265" y="4228917"/>
            <a:ext cx="201533" cy="201533"/>
          </a:xfrm>
          <a:prstGeom prst="rect">
            <a:avLst/>
          </a:prstGeom>
        </p:spPr>
      </p:pic>
      <p:sp>
        <p:nvSpPr>
          <p:cNvPr id="17488" name="Rounded Rectangle 17487"/>
          <p:cNvSpPr/>
          <p:nvPr/>
        </p:nvSpPr>
        <p:spPr>
          <a:xfrm>
            <a:off x="6428232" y="4101084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EF7EF"/>
          </a:solidFill>
          <a:ln w="9525">
            <a:solidFill>
              <a:srgbClr val="C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9" name="TextBox 17488"/>
          <p:cNvSpPr txBox="1"/>
          <p:nvPr/>
        </p:nvSpPr>
        <p:spPr>
          <a:xfrm>
            <a:off x="6537960" y="4119372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India-mode training: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half of all samples are degraded to INSAT (4 km, 15–30 min scans) and GFS (~24 km) quality; fine-tune on Indian cases as they come in.</a:t>
            </a:r>
          </a:p>
        </p:txBody>
      </p:sp>
      <p:sp>
        <p:nvSpPr>
          <p:cNvPr id="17490" name="Oval 17489"/>
          <p:cNvSpPr/>
          <p:nvPr/>
        </p:nvSpPr>
        <p:spPr>
          <a:xfrm>
            <a:off x="11594592" y="4183380"/>
            <a:ext cx="292608" cy="292608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1" name="TextBox 17490"/>
          <p:cNvSpPr txBox="1"/>
          <p:nvPr/>
        </p:nvSpPr>
        <p:spPr>
          <a:xfrm>
            <a:off x="11594592" y="41833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228600" y="4599432"/>
            <a:ext cx="5285232" cy="457200"/>
          </a:xfrm>
          <a:prstGeom prst="roundRect">
            <a:avLst>
              <a:gd name="adj" fmla="val 18000"/>
            </a:avLst>
          </a:prstGeom>
          <a:solidFill>
            <a:srgbClr val="FDF1F1"/>
          </a:solidFill>
          <a:ln w="9525">
            <a:solidFill>
              <a:srgbClr val="F2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3" name="Oval 17492"/>
          <p:cNvSpPr/>
          <p:nvPr/>
        </p:nvSpPr>
        <p:spPr>
          <a:xfrm>
            <a:off x="301752" y="4681728"/>
            <a:ext cx="292608" cy="29260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4" name="TextBox 17493"/>
          <p:cNvSpPr txBox="1"/>
          <p:nvPr/>
        </p:nvSpPr>
        <p:spPr>
          <a:xfrm>
            <a:off x="301752" y="46817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685800" y="4617720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Sparse radar and sensor outages: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radar does not cover all of India, and feeds drop out during storms.</a:t>
            </a:r>
          </a:p>
        </p:txBody>
      </p:sp>
      <p:sp>
        <p:nvSpPr>
          <p:cNvPr id="18" name="Freeform 17"/>
          <p:cNvSpPr/>
          <p:nvPr/>
        </p:nvSpPr>
        <p:spPr>
          <a:xfrm>
            <a:off x="5513832" y="4828032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9AA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6" name="Oval 17495"/>
          <p:cNvSpPr/>
          <p:nvPr/>
        </p:nvSpPr>
        <p:spPr>
          <a:xfrm>
            <a:off x="5797296" y="4654296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7" name="Picture 17496" descr="wifio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0265" y="4727265"/>
            <a:ext cx="201533" cy="201533"/>
          </a:xfrm>
          <a:prstGeom prst="rect">
            <a:avLst/>
          </a:prstGeom>
        </p:spPr>
      </p:pic>
      <p:sp>
        <p:nvSpPr>
          <p:cNvPr id="17498" name="Rounded Rectangle 17497"/>
          <p:cNvSpPr/>
          <p:nvPr/>
        </p:nvSpPr>
        <p:spPr>
          <a:xfrm>
            <a:off x="6428232" y="4599432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EF7EF"/>
          </a:solidFill>
          <a:ln w="9525">
            <a:solidFill>
              <a:srgbClr val="C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9" name="TextBox 17498"/>
          <p:cNvSpPr txBox="1"/>
          <p:nvPr/>
        </p:nvSpPr>
        <p:spPr>
          <a:xfrm>
            <a:off x="6537960" y="4617720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Modality dropout: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the model runs on whatever is live. Without radar, hour-1 CSI only dips from </a:t>
            </a: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0.613 to 0.592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; satellite + NWP alone still scores </a:t>
            </a: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0.461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500" name="Oval 17499"/>
          <p:cNvSpPr/>
          <p:nvPr/>
        </p:nvSpPr>
        <p:spPr>
          <a:xfrm>
            <a:off x="11594592" y="4681728"/>
            <a:ext cx="292608" cy="292608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1" name="TextBox 17500"/>
          <p:cNvSpPr txBox="1"/>
          <p:nvPr/>
        </p:nvSpPr>
        <p:spPr>
          <a:xfrm>
            <a:off x="11594592" y="46817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228600" y="5097780"/>
            <a:ext cx="5285232" cy="457200"/>
          </a:xfrm>
          <a:prstGeom prst="roundRect">
            <a:avLst>
              <a:gd name="adj" fmla="val 18000"/>
            </a:avLst>
          </a:prstGeom>
          <a:solidFill>
            <a:srgbClr val="FDF1F1"/>
          </a:solidFill>
          <a:ln w="9525">
            <a:solidFill>
              <a:srgbClr val="F2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Oval 17502"/>
          <p:cNvSpPr/>
          <p:nvPr/>
        </p:nvSpPr>
        <p:spPr>
          <a:xfrm>
            <a:off x="301752" y="5180076"/>
            <a:ext cx="292608" cy="29260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4" name="TextBox 17503"/>
          <p:cNvSpPr txBox="1"/>
          <p:nvPr/>
        </p:nvSpPr>
        <p:spPr>
          <a:xfrm>
            <a:off x="301752" y="51800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7505" name="TextBox 17504"/>
          <p:cNvSpPr txBox="1"/>
          <p:nvPr/>
        </p:nvSpPr>
        <p:spPr>
          <a:xfrm>
            <a:off x="685800" y="5116068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Calibration and false alarms: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probabilities are tuned to US storm frequency, not Indian climate.</a:t>
            </a:r>
          </a:p>
        </p:txBody>
      </p:sp>
      <p:sp>
        <p:nvSpPr>
          <p:cNvPr id="19" name="Freeform 18"/>
          <p:cNvSpPr/>
          <p:nvPr/>
        </p:nvSpPr>
        <p:spPr>
          <a:xfrm>
            <a:off x="5513832" y="532638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9AA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6" name="Oval 17505"/>
          <p:cNvSpPr/>
          <p:nvPr/>
        </p:nvSpPr>
        <p:spPr>
          <a:xfrm>
            <a:off x="5797296" y="5152644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7" name="Picture 17506" descr="slider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70265" y="5225613"/>
            <a:ext cx="201533" cy="201533"/>
          </a:xfrm>
          <a:prstGeom prst="rect">
            <a:avLst/>
          </a:prstGeom>
        </p:spPr>
      </p:pic>
      <p:sp>
        <p:nvSpPr>
          <p:cNvPr id="17508" name="Rounded Rectangle 17507"/>
          <p:cNvSpPr/>
          <p:nvPr/>
        </p:nvSpPr>
        <p:spPr>
          <a:xfrm>
            <a:off x="6428232" y="5097780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EF7EF"/>
          </a:solidFill>
          <a:ln w="9525">
            <a:solidFill>
              <a:srgbClr val="C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9" name="TextBox 17508"/>
          <p:cNvSpPr txBox="1"/>
          <p:nvPr/>
        </p:nvSpPr>
        <p:spPr>
          <a:xfrm>
            <a:off x="6537960" y="5116068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Regional recalibration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with IMD, and alerts issued as risk levels, not raw numbers. On a dry Delhi day the forecast stayed at </a:t>
            </a: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0.04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510" name="Oval 17509"/>
          <p:cNvSpPr/>
          <p:nvPr/>
        </p:nvSpPr>
        <p:spPr>
          <a:xfrm>
            <a:off x="11594592" y="5180076"/>
            <a:ext cx="292608" cy="292608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1" name="TextBox 17510"/>
          <p:cNvSpPr txBox="1"/>
          <p:nvPr/>
        </p:nvSpPr>
        <p:spPr>
          <a:xfrm>
            <a:off x="11594592" y="51800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7512" name="Rounded Rectangle 17511"/>
          <p:cNvSpPr/>
          <p:nvPr/>
        </p:nvSpPr>
        <p:spPr>
          <a:xfrm>
            <a:off x="228600" y="5596128"/>
            <a:ext cx="5285232" cy="457200"/>
          </a:xfrm>
          <a:prstGeom prst="roundRect">
            <a:avLst>
              <a:gd name="adj" fmla="val 18000"/>
            </a:avLst>
          </a:prstGeom>
          <a:solidFill>
            <a:srgbClr val="FDF1F1"/>
          </a:solidFill>
          <a:ln w="9525">
            <a:solidFill>
              <a:srgbClr val="F2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3" name="Oval 17512"/>
          <p:cNvSpPr/>
          <p:nvPr/>
        </p:nvSpPr>
        <p:spPr>
          <a:xfrm>
            <a:off x="301752" y="5678424"/>
            <a:ext cx="292608" cy="29260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4" name="TextBox 17513"/>
          <p:cNvSpPr txBox="1"/>
          <p:nvPr/>
        </p:nvSpPr>
        <p:spPr>
          <a:xfrm>
            <a:off x="301752" y="567842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7515" name="TextBox 17514"/>
          <p:cNvSpPr txBox="1"/>
          <p:nvPr/>
        </p:nvSpPr>
        <p:spPr>
          <a:xfrm>
            <a:off x="685800" y="5614416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Adoption into IMD operations: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 new tool must fit forecasters’ workflows and existing alert channels.</a:t>
            </a:r>
          </a:p>
        </p:txBody>
      </p:sp>
      <p:sp>
        <p:nvSpPr>
          <p:cNvPr id="20" name="Freeform 19"/>
          <p:cNvSpPr/>
          <p:nvPr/>
        </p:nvSpPr>
        <p:spPr>
          <a:xfrm>
            <a:off x="5513832" y="5824728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 h="0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9AA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6" name="Oval 17515"/>
          <p:cNvSpPr/>
          <p:nvPr/>
        </p:nvSpPr>
        <p:spPr>
          <a:xfrm>
            <a:off x="5797296" y="5650992"/>
            <a:ext cx="347472" cy="34747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7" name="Picture 17516" descr="rocke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70265" y="5723961"/>
            <a:ext cx="201533" cy="201533"/>
          </a:xfrm>
          <a:prstGeom prst="rect">
            <a:avLst/>
          </a:prstGeom>
        </p:spPr>
      </p:pic>
      <p:sp>
        <p:nvSpPr>
          <p:cNvPr id="17518" name="Rounded Rectangle 17517"/>
          <p:cNvSpPr/>
          <p:nvPr/>
        </p:nvSpPr>
        <p:spPr>
          <a:xfrm>
            <a:off x="6428232" y="5596128"/>
            <a:ext cx="5532120" cy="457200"/>
          </a:xfrm>
          <a:prstGeom prst="roundRect">
            <a:avLst>
              <a:gd name="adj" fmla="val 18000"/>
            </a:avLst>
          </a:prstGeom>
          <a:solidFill>
            <a:srgbClr val="EEF7EF"/>
          </a:solidFill>
          <a:ln w="9525">
            <a:solidFill>
              <a:srgbClr val="C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9" name="TextBox 17518"/>
          <p:cNvSpPr txBox="1"/>
          <p:nvPr/>
        </p:nvSpPr>
        <p:spPr>
          <a:xfrm>
            <a:off x="6537960" y="5614416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3000"/>
              </a:lnSpc>
            </a:pPr>
            <a:r>
              <a:rPr sz="86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Phased rollout:</a:t>
            </a:r>
            <a:r>
              <a:rPr sz="86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pilot at one regional centre (e.g. Bhubaneswar) side by side with current nowcasts, then scale state by state.</a:t>
            </a:r>
          </a:p>
        </p:txBody>
      </p:sp>
      <p:sp>
        <p:nvSpPr>
          <p:cNvPr id="17520" name="Oval 17519"/>
          <p:cNvSpPr/>
          <p:nvPr/>
        </p:nvSpPr>
        <p:spPr>
          <a:xfrm>
            <a:off x="11594592" y="5678424"/>
            <a:ext cx="292608" cy="292608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1" name="TextBox 17520"/>
          <p:cNvSpPr txBox="1"/>
          <p:nvPr/>
        </p:nvSpPr>
        <p:spPr>
          <a:xfrm>
            <a:off x="11594592" y="567842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7522" name="Rounded Rectangle 17521"/>
          <p:cNvSpPr/>
          <p:nvPr/>
        </p:nvSpPr>
        <p:spPr>
          <a:xfrm>
            <a:off x="201168" y="3575304"/>
            <a:ext cx="11786616" cy="512064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FF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3" name="TextBox 17522"/>
          <p:cNvSpPr txBox="1"/>
          <p:nvPr/>
        </p:nvSpPr>
        <p:spPr>
          <a:xfrm>
            <a:off x="320040" y="6108192"/>
            <a:ext cx="1154887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680" i="0" b="0">
                <a:solidFill>
                  <a:srgbClr val="7A8594"/>
                </a:solidFill>
                <a:latin typeface="Calibri"/>
                <a:ea typeface="Calibri"/>
                <a:cs typeface="Calibri"/>
              </a:rPr>
              <a:t>CSI = critical success index for lightning (higher is better), on held-out 2019 US storms. Trained on US GLM lightning, adapted to INSAT/GFS, not yet verified against Indian lightning observations. Tile count is an estimate from India’s land area.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097280"/>
            <a:ext cx="8732520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7A0E12"/>
              </a:gs>
              <a:gs pos="100000">
                <a:srgbClr val="D62828"/>
              </a:gs>
            </a:gsLst>
            <a:lin scaled="0" ang="0"/>
          </a:gra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1" name="Picture 17410" descr="zap_FFB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170432"/>
            <a:ext cx="274320" cy="27432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67512" y="1097280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i="0" b="0">
                <a:solidFill>
                  <a:srgbClr val="FFD166"/>
                </a:solidFill>
                <a:latin typeface="Segoe UI Black"/>
                <a:ea typeface="Segoe UI Black"/>
                <a:cs typeface="Segoe UI Black"/>
              </a:rPr>
              <a:t>2,558 lives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167128" y="1115568"/>
            <a:ext cx="667512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i="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lost to </a:t>
            </a:r>
            <a:r>
              <a:rPr sz="1000" i="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lightning in India in 2023</a:t>
            </a:r>
            <a:r>
              <a:rPr sz="1000" i="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000" i="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39.7%</a:t>
            </a:r>
            <a:r>
              <a:rPr sz="1000" i="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of all deaths from forces of nature, the largest single share (NCRB). Today’s operational nowcasts look only </a:t>
            </a:r>
            <a:r>
              <a:rPr sz="1000" i="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hours</a:t>
            </a:r>
            <a:r>
              <a:rPr sz="1000" i="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ahead.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034272" y="1097280"/>
            <a:ext cx="2926079" cy="420624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9162288" y="1124712"/>
            <a:ext cx="268833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i="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PS SIH26072 · MoES / IMD</a:t>
            </a:r>
          </a:p>
          <a:p>
            <a:pPr algn="l"/>
            <a:r>
              <a:rPr sz="900" i="0" b="0">
                <a:solidFill>
                  <a:srgbClr val="CFE0F5"/>
                </a:solidFill>
                <a:latin typeface="Calibri"/>
                <a:ea typeface="Calibri"/>
                <a:cs typeface="Calibri"/>
              </a:rPr>
              <a:t>Theme: Disaster Management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8600" y="1609344"/>
            <a:ext cx="6739128" cy="2980944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Oval 17416"/>
          <p:cNvSpPr/>
          <p:nvPr/>
        </p:nvSpPr>
        <p:spPr>
          <a:xfrm>
            <a:off x="1874519" y="1664207"/>
            <a:ext cx="237744" cy="237744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8" name="Picture 17417" descr="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313" y="1707001"/>
            <a:ext cx="152156" cy="152156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2167128" y="16550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Potential Impact on Target Audience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38328" y="1956816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420623" y="2020824"/>
            <a:ext cx="310896" cy="31089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2" name="Picture 17421" descr="land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" y="2083003"/>
            <a:ext cx="186537" cy="186537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795528" y="2011680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IMD Forecasters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95528" y="2194560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MoES · forecast centres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29768" y="2350008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Storm and lightning maps in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10-min steps at 2 km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Doubles the nowcast window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3 h to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6 h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" name="Freeform 1"/>
          <p:cNvSpPr/>
          <p:nvPr/>
        </p:nvSpPr>
        <p:spPr>
          <a:xfrm>
            <a:off x="2596896" y="2584460"/>
            <a:ext cx="388403" cy="253118"/>
          </a:xfrm>
          <a:custGeom>
            <a:avLst/>
            <a:gdLst/>
            <a:ahLst/>
            <a:cxnLst/>
            <a:rect l="l" t="t" r="r" b="b"/>
            <a:pathLst>
              <a:path w="388403" h="253118">
                <a:moveTo>
                  <a:pt x="0" y="0"/>
                </a:moveTo>
                <a:lnTo>
                  <a:pt x="388403" y="253118"/>
                </a:lnTo>
              </a:path>
            </a:pathLst>
          </a:custGeom>
          <a:noFill/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Oval 17425"/>
          <p:cNvSpPr/>
          <p:nvPr/>
        </p:nvSpPr>
        <p:spPr>
          <a:xfrm>
            <a:off x="2558034" y="2545598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Oval 17426"/>
          <p:cNvSpPr/>
          <p:nvPr/>
        </p:nvSpPr>
        <p:spPr>
          <a:xfrm>
            <a:off x="2953295" y="2805574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Rounded Rectangle 17427"/>
          <p:cNvSpPr/>
          <p:nvPr/>
        </p:nvSpPr>
        <p:spPr>
          <a:xfrm>
            <a:off x="338328" y="2834640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Oval 17428"/>
          <p:cNvSpPr/>
          <p:nvPr/>
        </p:nvSpPr>
        <p:spPr>
          <a:xfrm>
            <a:off x="420623" y="2898648"/>
            <a:ext cx="310896" cy="310896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0" name="Picture 17429" descr="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" y="2960827"/>
            <a:ext cx="186537" cy="186537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95528" y="2889504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D62828"/>
                </a:solidFill>
                <a:latin typeface="Segoe UI"/>
                <a:ea typeface="Segoe UI"/>
                <a:cs typeface="Segoe UI"/>
              </a:rPr>
              <a:t>Disaster Managers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95528" y="3072384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NDMA · SDMAs · districts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29768" y="3227832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Earlier, district-level alerts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to clear fields, fairs, beaches and schools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before the first strike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" name="Freeform 2"/>
          <p:cNvSpPr/>
          <p:nvPr/>
        </p:nvSpPr>
        <p:spPr>
          <a:xfrm>
            <a:off x="2596896" y="3236976"/>
            <a:ext cx="269748" cy="0"/>
          </a:xfrm>
          <a:custGeom>
            <a:avLst/>
            <a:gdLst/>
            <a:ahLst/>
            <a:cxnLst/>
            <a:rect l="l" t="t" r="r" b="b"/>
            <a:pathLst>
              <a:path w="269748" h="0">
                <a:moveTo>
                  <a:pt x="0" y="0"/>
                </a:moveTo>
                <a:lnTo>
                  <a:pt x="269748" y="0"/>
                </a:lnTo>
              </a:path>
            </a:pathLst>
          </a:custGeom>
          <a:noFill/>
          <a:ln w="1905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Oval 17433"/>
          <p:cNvSpPr/>
          <p:nvPr/>
        </p:nvSpPr>
        <p:spPr>
          <a:xfrm>
            <a:off x="2558034" y="3198114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Oval 17434"/>
          <p:cNvSpPr/>
          <p:nvPr/>
        </p:nvSpPr>
        <p:spPr>
          <a:xfrm>
            <a:off x="2834639" y="3204972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Rounded Rectangle 17435"/>
          <p:cNvSpPr/>
          <p:nvPr/>
        </p:nvSpPr>
        <p:spPr>
          <a:xfrm>
            <a:off x="338328" y="3712464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Oval 17436"/>
          <p:cNvSpPr/>
          <p:nvPr/>
        </p:nvSpPr>
        <p:spPr>
          <a:xfrm>
            <a:off x="420623" y="3776472"/>
            <a:ext cx="310896" cy="310896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spro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" y="3838651"/>
            <a:ext cx="186537" cy="186537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795528" y="3767328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138808"/>
                </a:solidFill>
                <a:latin typeface="Segoe UI"/>
                <a:ea typeface="Segoe UI"/>
                <a:cs typeface="Segoe UI"/>
              </a:rPr>
              <a:t>Farmers &amp; Labourers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795528" y="3950208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most exposed, out in the open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29768" y="4105656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Hours, not minutes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to leave fields and shelter livestock, via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Damini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Meghdoot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apps.</a:t>
            </a:r>
          </a:p>
        </p:txBody>
      </p:sp>
      <p:sp>
        <p:nvSpPr>
          <p:cNvPr id="4" name="Freeform 3"/>
          <p:cNvSpPr/>
          <p:nvPr/>
        </p:nvSpPr>
        <p:spPr>
          <a:xfrm>
            <a:off x="2596896" y="3636373"/>
            <a:ext cx="388403" cy="253118"/>
          </a:xfrm>
          <a:custGeom>
            <a:avLst/>
            <a:gdLst/>
            <a:ahLst/>
            <a:cxnLst/>
            <a:rect l="l" t="t" r="r" b="b"/>
            <a:pathLst>
              <a:path w="388403" h="253118">
                <a:moveTo>
                  <a:pt x="0" y="253118"/>
                </a:moveTo>
                <a:lnTo>
                  <a:pt x="388403" y="0"/>
                </a:lnTo>
              </a:path>
            </a:pathLst>
          </a:custGeom>
          <a:noFill/>
          <a:ln w="19050">
            <a:solidFill>
              <a:srgbClr val="138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Oval 17441"/>
          <p:cNvSpPr/>
          <p:nvPr/>
        </p:nvSpPr>
        <p:spPr>
          <a:xfrm>
            <a:off x="2558034" y="3850629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8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Oval 17442"/>
          <p:cNvSpPr/>
          <p:nvPr/>
        </p:nvSpPr>
        <p:spPr>
          <a:xfrm>
            <a:off x="2953295" y="3604369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8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Rounded Rectangle 17443"/>
          <p:cNvSpPr/>
          <p:nvPr/>
        </p:nvSpPr>
        <p:spPr>
          <a:xfrm>
            <a:off x="4599431" y="1956816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Oval 17444"/>
          <p:cNvSpPr/>
          <p:nvPr/>
        </p:nvSpPr>
        <p:spPr>
          <a:xfrm>
            <a:off x="4681727" y="2020824"/>
            <a:ext cx="310896" cy="310896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6" name="Picture 17445" descr="pla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3907" y="2083003"/>
            <a:ext cx="186537" cy="186537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5056631" y="2011680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Aviation &amp; Airports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5056631" y="2194560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AAI · airlines · IAF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690871" y="2350008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Storm hazard maps for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rerouting and safer ground operations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with fewer diversions and go-arounds.</a:t>
            </a:r>
          </a:p>
        </p:txBody>
      </p:sp>
      <p:sp>
        <p:nvSpPr>
          <p:cNvPr id="5" name="Freeform 4"/>
          <p:cNvSpPr/>
          <p:nvPr/>
        </p:nvSpPr>
        <p:spPr>
          <a:xfrm>
            <a:off x="4211028" y="2584460"/>
            <a:ext cx="388403" cy="253118"/>
          </a:xfrm>
          <a:custGeom>
            <a:avLst/>
            <a:gdLst/>
            <a:ahLst/>
            <a:cxnLst/>
            <a:rect l="l" t="t" r="r" b="b"/>
            <a:pathLst>
              <a:path w="388403" h="253118">
                <a:moveTo>
                  <a:pt x="388403" y="0"/>
                </a:moveTo>
                <a:lnTo>
                  <a:pt x="0" y="253118"/>
                </a:lnTo>
              </a:path>
            </a:pathLst>
          </a:custGeom>
          <a:noFill/>
          <a:ln w="19050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Oval 17449"/>
          <p:cNvSpPr/>
          <p:nvPr/>
        </p:nvSpPr>
        <p:spPr>
          <a:xfrm>
            <a:off x="4560569" y="2545598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Oval 17450"/>
          <p:cNvSpPr/>
          <p:nvPr/>
        </p:nvSpPr>
        <p:spPr>
          <a:xfrm>
            <a:off x="4179024" y="2805574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Rounded Rectangle 17451"/>
          <p:cNvSpPr/>
          <p:nvPr/>
        </p:nvSpPr>
        <p:spPr>
          <a:xfrm>
            <a:off x="4599431" y="2834640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Oval 17452"/>
          <p:cNvSpPr/>
          <p:nvPr/>
        </p:nvSpPr>
        <p:spPr>
          <a:xfrm>
            <a:off x="4681727" y="2898648"/>
            <a:ext cx="310896" cy="310896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4" name="Picture 17453" descr="po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3907" y="2960827"/>
            <a:ext cx="186537" cy="186537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5056631" y="2889504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F37021"/>
                </a:solidFill>
                <a:latin typeface="Segoe UI"/>
                <a:ea typeface="Segoe UI"/>
                <a:cs typeface="Segoe UI"/>
              </a:rPr>
              <a:t>Power &amp; Telecom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5056631" y="3072384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grid, towers, rail signalling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4690871" y="3227832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Pre-position repair crews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and shield lines, towers and signalling from </a:t>
            </a: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lightning and squalls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Freeform 7"/>
          <p:cNvSpPr/>
          <p:nvPr/>
        </p:nvSpPr>
        <p:spPr>
          <a:xfrm>
            <a:off x="4329684" y="3236976"/>
            <a:ext cx="269747" cy="0"/>
          </a:xfrm>
          <a:custGeom>
            <a:avLst/>
            <a:gdLst/>
            <a:ahLst/>
            <a:cxnLst/>
            <a:rect l="l" t="t" r="r" b="b"/>
            <a:pathLst>
              <a:path w="269747" h="0">
                <a:moveTo>
                  <a:pt x="269747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Oval 17457"/>
          <p:cNvSpPr/>
          <p:nvPr/>
        </p:nvSpPr>
        <p:spPr>
          <a:xfrm>
            <a:off x="4560569" y="3198114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Oval 17458"/>
          <p:cNvSpPr/>
          <p:nvPr/>
        </p:nvSpPr>
        <p:spPr>
          <a:xfrm>
            <a:off x="4297680" y="3204972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Rounded Rectangle 17459"/>
          <p:cNvSpPr/>
          <p:nvPr/>
        </p:nvSpPr>
        <p:spPr>
          <a:xfrm>
            <a:off x="4599431" y="3712464"/>
            <a:ext cx="225856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Oval 17460"/>
          <p:cNvSpPr/>
          <p:nvPr/>
        </p:nvSpPr>
        <p:spPr>
          <a:xfrm>
            <a:off x="4681727" y="3776472"/>
            <a:ext cx="310896" cy="310896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2" name="Picture 17461" descr="us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3907" y="3838651"/>
            <a:ext cx="186537" cy="186537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5056631" y="3767328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i="0" b="1">
                <a:solidFill>
                  <a:srgbClr val="0F8B8D"/>
                </a:solidFill>
                <a:latin typeface="Segoe UI"/>
                <a:ea typeface="Segoe UI"/>
                <a:cs typeface="Segoe UI"/>
              </a:rPr>
              <a:t>Citizens &amp; Cities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5056631" y="3950208"/>
            <a:ext cx="1746504" cy="137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hyper-local alerts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4690871" y="4105656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3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Tested on Bhubaneswar, Kolkata and Guwahati storms</a:t>
            </a:r>
            <a:r>
              <a:rPr sz="83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plus a dry-day control in Delhi.</a:t>
            </a:r>
          </a:p>
        </p:txBody>
      </p:sp>
      <p:sp>
        <p:nvSpPr>
          <p:cNvPr id="9" name="Freeform 8"/>
          <p:cNvSpPr/>
          <p:nvPr/>
        </p:nvSpPr>
        <p:spPr>
          <a:xfrm>
            <a:off x="4211028" y="3636373"/>
            <a:ext cx="388403" cy="253118"/>
          </a:xfrm>
          <a:custGeom>
            <a:avLst/>
            <a:gdLst/>
            <a:ahLst/>
            <a:cxnLst/>
            <a:rect l="l" t="t" r="r" b="b"/>
            <a:pathLst>
              <a:path w="388403" h="253118">
                <a:moveTo>
                  <a:pt x="388403" y="25311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Oval 17465"/>
          <p:cNvSpPr/>
          <p:nvPr/>
        </p:nvSpPr>
        <p:spPr>
          <a:xfrm>
            <a:off x="4560569" y="3850629"/>
            <a:ext cx="77724" cy="777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7" name="Oval 17466"/>
          <p:cNvSpPr/>
          <p:nvPr/>
        </p:nvSpPr>
        <p:spPr>
          <a:xfrm>
            <a:off x="4179024" y="3604369"/>
            <a:ext cx="64008" cy="64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B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2683764" y="1938528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i="0" b="1">
                <a:solidFill>
                  <a:srgbClr val="6B7787"/>
                </a:solidFill>
                <a:latin typeface="Segoe UI"/>
                <a:ea typeface="Segoe UI"/>
                <a:cs typeface="Segoe UI"/>
              </a:rPr>
              <a:t>4 DATA SOURCES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2775204" y="2093976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0" name="Oval 17469"/>
          <p:cNvSpPr/>
          <p:nvPr/>
        </p:nvSpPr>
        <p:spPr>
          <a:xfrm>
            <a:off x="2802636" y="2112264"/>
            <a:ext cx="146304" cy="146304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1" name="Picture 17470" descr="rada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26044" y="2135672"/>
            <a:ext cx="99486" cy="99486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2985516" y="2093976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5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Radar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3634740" y="2093976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Oval 17473"/>
          <p:cNvSpPr/>
          <p:nvPr/>
        </p:nvSpPr>
        <p:spPr>
          <a:xfrm>
            <a:off x="3662172" y="2112264"/>
            <a:ext cx="146304" cy="146304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5" name="Picture 17474" descr="sa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5580" y="2135672"/>
            <a:ext cx="99486" cy="99486"/>
          </a:xfrm>
          <a:prstGeom prst="rect">
            <a:avLst/>
          </a:prstGeom>
        </p:spPr>
      </p:pic>
      <p:sp>
        <p:nvSpPr>
          <p:cNvPr id="17476" name="TextBox 17475"/>
          <p:cNvSpPr txBox="1"/>
          <p:nvPr/>
        </p:nvSpPr>
        <p:spPr>
          <a:xfrm>
            <a:off x="3845052" y="2093976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5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Satellite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2775204" y="2322576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Oval 17477"/>
          <p:cNvSpPr/>
          <p:nvPr/>
        </p:nvSpPr>
        <p:spPr>
          <a:xfrm>
            <a:off x="2802636" y="2340864"/>
            <a:ext cx="146304" cy="146304"/>
          </a:xfrm>
          <a:prstGeom prst="ellipse">
            <a:avLst/>
          </a:prstGeom>
          <a:solidFill>
            <a:srgbClr val="E3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9" name="Picture 17478" descr="za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26044" y="2364272"/>
            <a:ext cx="99486" cy="99486"/>
          </a:xfrm>
          <a:prstGeom prst="rect">
            <a:avLst/>
          </a:prstGeom>
        </p:spPr>
      </p:pic>
      <p:sp>
        <p:nvSpPr>
          <p:cNvPr id="17480" name="TextBox 17479"/>
          <p:cNvSpPr txBox="1"/>
          <p:nvPr/>
        </p:nvSpPr>
        <p:spPr>
          <a:xfrm>
            <a:off x="2985516" y="2322576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5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Lightning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3634740" y="2322576"/>
            <a:ext cx="7863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2" name="Oval 17481"/>
          <p:cNvSpPr/>
          <p:nvPr/>
        </p:nvSpPr>
        <p:spPr>
          <a:xfrm>
            <a:off x="3662172" y="2340864"/>
            <a:ext cx="146304" cy="146304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3" name="Picture 17482" descr="glob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85580" y="2364272"/>
            <a:ext cx="99486" cy="99486"/>
          </a:xfrm>
          <a:prstGeom prst="rect">
            <a:avLst/>
          </a:prstGeom>
        </p:spPr>
      </p:pic>
      <p:sp>
        <p:nvSpPr>
          <p:cNvPr id="17484" name="TextBox 17483"/>
          <p:cNvSpPr txBox="1"/>
          <p:nvPr/>
        </p:nvSpPr>
        <p:spPr>
          <a:xfrm>
            <a:off x="3845052" y="2322576"/>
            <a:ext cx="557784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75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NWP</a:t>
            </a:r>
          </a:p>
        </p:txBody>
      </p:sp>
      <p:sp>
        <p:nvSpPr>
          <p:cNvPr id="17485" name="Oval 17484"/>
          <p:cNvSpPr/>
          <p:nvPr/>
        </p:nvSpPr>
        <p:spPr>
          <a:xfrm>
            <a:off x="2884932" y="2523744"/>
            <a:ext cx="1426464" cy="1426464"/>
          </a:xfrm>
          <a:prstGeom prst="ellipse">
            <a:avLst/>
          </a:prstGeom>
          <a:gradFill rotWithShape="1">
            <a:gsLst>
              <a:gs pos="0">
                <a:srgbClr val="DCE9F7"/>
              </a:gs>
              <a:gs pos="100000">
                <a:srgbClr val="1565C0"/>
              </a:gs>
            </a:gsLst>
            <a:lin scaled="0" ang="2700000"/>
          </a:gra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6" name="Oval 17485"/>
          <p:cNvSpPr/>
          <p:nvPr/>
        </p:nvSpPr>
        <p:spPr>
          <a:xfrm>
            <a:off x="3046232" y="2685044"/>
            <a:ext cx="1103863" cy="1103863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7" name="Oval 17486"/>
          <p:cNvSpPr/>
          <p:nvPr/>
        </p:nvSpPr>
        <p:spPr>
          <a:xfrm>
            <a:off x="3174613" y="2813425"/>
            <a:ext cx="847100" cy="8471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8" name="Oval 17487"/>
          <p:cNvSpPr/>
          <p:nvPr/>
        </p:nvSpPr>
        <p:spPr>
          <a:xfrm>
            <a:off x="3012948" y="2651760"/>
            <a:ext cx="1170432" cy="1170432"/>
          </a:xfrm>
          <a:prstGeom prst="ellipse">
            <a:avLst/>
          </a:prstGeom>
          <a:gradFill rotWithShape="1">
            <a:gsLst>
              <a:gs pos="0">
                <a:srgbClr val="173B6B"/>
              </a:gs>
              <a:gs pos="100000">
                <a:srgbClr val="0B2545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9" name="Picture 17488" descr="cloudbolt_FFB40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0148" y="2761488"/>
            <a:ext cx="256032" cy="256032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3049524" y="2999232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400" i="0" b="0">
                <a:solidFill>
                  <a:srgbClr val="FFFFFF"/>
                </a:solidFill>
                <a:latin typeface="Segoe UI Black"/>
                <a:ea typeface="Segoe UI Black"/>
                <a:cs typeface="Segoe UI Black"/>
              </a:rPr>
              <a:t>0–6 h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3049524" y="33649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800" i="0" b="1">
                <a:solidFill>
                  <a:srgbClr val="CFE0F5"/>
                </a:solidFill>
                <a:latin typeface="Segoe UI"/>
                <a:ea typeface="Segoe UI"/>
                <a:cs typeface="Segoe UI"/>
              </a:rPr>
              <a:t>seamless AI</a:t>
            </a:r>
          </a:p>
          <a:p>
            <a:pPr algn="ctr">
              <a:lnSpc>
                <a:spcPct val="90000"/>
              </a:lnSpc>
            </a:pPr>
            <a:r>
              <a:rPr sz="800" i="0" b="1">
                <a:solidFill>
                  <a:srgbClr val="CFE0F5"/>
                </a:solidFill>
                <a:latin typeface="Segoe UI"/>
                <a:ea typeface="Segoe UI"/>
                <a:cs typeface="Segoe UI"/>
              </a:rPr>
              <a:t>lightning nowcast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2692908" y="4014216"/>
            <a:ext cx="1810512" cy="1828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3" name="TextBox 17492"/>
          <p:cNvSpPr txBox="1"/>
          <p:nvPr/>
        </p:nvSpPr>
        <p:spPr>
          <a:xfrm>
            <a:off x="2692908" y="4014216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Tier 1 · 0–3 h multimodal fusion</a:t>
            </a:r>
          </a:p>
        </p:txBody>
      </p:sp>
      <p:sp>
        <p:nvSpPr>
          <p:cNvPr id="17494" name="Rounded Rectangle 17493"/>
          <p:cNvSpPr/>
          <p:nvPr/>
        </p:nvSpPr>
        <p:spPr>
          <a:xfrm>
            <a:off x="2692908" y="4233672"/>
            <a:ext cx="1810512" cy="182880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5" name="TextBox 17494"/>
          <p:cNvSpPr txBox="1"/>
          <p:nvPr/>
        </p:nvSpPr>
        <p:spPr>
          <a:xfrm>
            <a:off x="2692908" y="4233672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7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Tier 2 · 3–6 h AI-corrected NWP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2592324" y="445312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10-min steps to 3 h · hourly to 6 h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7077456" y="1609344"/>
            <a:ext cx="4882896" cy="2980944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8" name="Oval 17497"/>
          <p:cNvSpPr/>
          <p:nvPr/>
        </p:nvSpPr>
        <p:spPr>
          <a:xfrm>
            <a:off x="8302752" y="1664207"/>
            <a:ext cx="237744" cy="237744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9" name="Picture 17498" descr="gif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45545" y="1707001"/>
            <a:ext cx="152156" cy="152156"/>
          </a:xfrm>
          <a:prstGeom prst="rect">
            <a:avLst/>
          </a:prstGeom>
        </p:spPr>
      </p:pic>
      <p:sp>
        <p:nvSpPr>
          <p:cNvPr id="17500" name="TextBox 17499"/>
          <p:cNvSpPr txBox="1"/>
          <p:nvPr/>
        </p:nvSpPr>
        <p:spPr>
          <a:xfrm>
            <a:off x="8595360" y="16550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i="0" b="1">
                <a:solidFill>
                  <a:srgbClr val="0B2545"/>
                </a:solidFill>
                <a:latin typeface="Segoe UI"/>
                <a:ea typeface="Segoe UI"/>
                <a:cs typeface="Segoe UI"/>
              </a:rPr>
              <a:t>Benefits of the Solution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7187184" y="1956816"/>
            <a:ext cx="4663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2" name="Rounded Rectangle 17501"/>
          <p:cNvSpPr/>
          <p:nvPr/>
        </p:nvSpPr>
        <p:spPr>
          <a:xfrm>
            <a:off x="7187184" y="1956816"/>
            <a:ext cx="896112" cy="594360"/>
          </a:xfrm>
          <a:prstGeom prst="roundRect">
            <a:avLst>
              <a:gd name="adj" fmla="val 12000"/>
            </a:avLst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Rectangle 17502"/>
          <p:cNvSpPr/>
          <p:nvPr/>
        </p:nvSpPr>
        <p:spPr>
          <a:xfrm>
            <a:off x="7827264" y="1956816"/>
            <a:ext cx="256032" cy="594360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4" name="Picture 17503" descr="hear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16368" y="2020824"/>
            <a:ext cx="237744" cy="237744"/>
          </a:xfrm>
          <a:prstGeom prst="rect">
            <a:avLst/>
          </a:prstGeom>
        </p:spPr>
      </p:pic>
      <p:sp>
        <p:nvSpPr>
          <p:cNvPr id="17505" name="TextBox 17504"/>
          <p:cNvSpPr txBox="1"/>
          <p:nvPr/>
        </p:nvSpPr>
        <p:spPr>
          <a:xfrm>
            <a:off x="7187184" y="2295144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Social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8193024" y="1993392"/>
            <a:ext cx="3566159" cy="5212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Saves lives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where lightning strikes hardest: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MP, Bihar, Odisha, UP and Jharkhand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account for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59%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of India’s lightning deaths. Timely alerts build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public trust in IMD warnings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7187184" y="2612136"/>
            <a:ext cx="4663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8" name="Rounded Rectangle 17507"/>
          <p:cNvSpPr/>
          <p:nvPr/>
        </p:nvSpPr>
        <p:spPr>
          <a:xfrm>
            <a:off x="7187184" y="2612136"/>
            <a:ext cx="896112" cy="594360"/>
          </a:xfrm>
          <a:prstGeom prst="roundRect">
            <a:avLst>
              <a:gd name="adj" fmla="val 12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9" name="Rectangle 17508"/>
          <p:cNvSpPr/>
          <p:nvPr/>
        </p:nvSpPr>
        <p:spPr>
          <a:xfrm>
            <a:off x="7827264" y="2612136"/>
            <a:ext cx="256032" cy="59436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0" name="Picture 17509" descr="rupe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16368" y="2676143"/>
            <a:ext cx="237744" cy="237744"/>
          </a:xfrm>
          <a:prstGeom prst="rect">
            <a:avLst/>
          </a:prstGeom>
        </p:spPr>
      </p:pic>
      <p:sp>
        <p:nvSpPr>
          <p:cNvPr id="17511" name="TextBox 17510"/>
          <p:cNvSpPr txBox="1"/>
          <p:nvPr/>
        </p:nvSpPr>
        <p:spPr>
          <a:xfrm>
            <a:off x="7187184" y="2950464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Economic</a:t>
            </a:r>
          </a:p>
        </p:txBody>
      </p:sp>
      <p:sp>
        <p:nvSpPr>
          <p:cNvPr id="17512" name="TextBox 17511"/>
          <p:cNvSpPr txBox="1"/>
          <p:nvPr/>
        </p:nvSpPr>
        <p:spPr>
          <a:xfrm>
            <a:off x="8193024" y="2648712"/>
            <a:ext cx="3566159" cy="5212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Cuts losses to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crops, livestock, flights and power grids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 Built on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existing and open data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(IMD radar, INSAT, GFS):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no new sensors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are needed, and the model runs on a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single GPU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513" name="Rounded Rectangle 17512"/>
          <p:cNvSpPr/>
          <p:nvPr/>
        </p:nvSpPr>
        <p:spPr>
          <a:xfrm>
            <a:off x="7187184" y="3267456"/>
            <a:ext cx="4663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4" name="Rounded Rectangle 17513"/>
          <p:cNvSpPr/>
          <p:nvPr/>
        </p:nvSpPr>
        <p:spPr>
          <a:xfrm>
            <a:off x="7187184" y="3267456"/>
            <a:ext cx="896112" cy="594360"/>
          </a:xfrm>
          <a:prstGeom prst="roundRect">
            <a:avLst>
              <a:gd name="adj" fmla="val 12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5" name="Rectangle 17514"/>
          <p:cNvSpPr/>
          <p:nvPr/>
        </p:nvSpPr>
        <p:spPr>
          <a:xfrm>
            <a:off x="7827264" y="3267456"/>
            <a:ext cx="256032" cy="59436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6" name="Picture 17515" descr="leaf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16368" y="3331464"/>
            <a:ext cx="237744" cy="237744"/>
          </a:xfrm>
          <a:prstGeom prst="rect">
            <a:avLst/>
          </a:prstGeom>
        </p:spPr>
      </p:pic>
      <p:sp>
        <p:nvSpPr>
          <p:cNvPr id="17517" name="TextBox 17516"/>
          <p:cNvSpPr txBox="1"/>
          <p:nvPr/>
        </p:nvSpPr>
        <p:spPr>
          <a:xfrm>
            <a:off x="7187184" y="3605784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Environmental</a:t>
            </a:r>
          </a:p>
        </p:txBody>
      </p:sp>
      <p:sp>
        <p:nvSpPr>
          <p:cNvPr id="17518" name="TextBox 17517"/>
          <p:cNvSpPr txBox="1"/>
          <p:nvPr/>
        </p:nvSpPr>
        <p:spPr>
          <a:xfrm>
            <a:off x="8193024" y="3304032"/>
            <a:ext cx="3566159" cy="5212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Flags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lightning-prone zones for forest-fire watch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supports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climate adaptation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as severe convective weather grows, and helps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solar and grid operators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plan for storms.</a:t>
            </a:r>
          </a:p>
        </p:txBody>
      </p:sp>
      <p:sp>
        <p:nvSpPr>
          <p:cNvPr id="17519" name="Rounded Rectangle 17518"/>
          <p:cNvSpPr/>
          <p:nvPr/>
        </p:nvSpPr>
        <p:spPr>
          <a:xfrm>
            <a:off x="7187184" y="3922775"/>
            <a:ext cx="46634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0" name="Rounded Rectangle 17519"/>
          <p:cNvSpPr/>
          <p:nvPr/>
        </p:nvSpPr>
        <p:spPr>
          <a:xfrm>
            <a:off x="7187184" y="3922775"/>
            <a:ext cx="896112" cy="59436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1" name="Rectangle 17520"/>
          <p:cNvSpPr/>
          <p:nvPr/>
        </p:nvSpPr>
        <p:spPr>
          <a:xfrm>
            <a:off x="7827264" y="3922775"/>
            <a:ext cx="256032" cy="5943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22" name="Picture 17521" descr="sa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6368" y="3986783"/>
            <a:ext cx="237744" cy="237744"/>
          </a:xfrm>
          <a:prstGeom prst="rect">
            <a:avLst/>
          </a:prstGeom>
        </p:spPr>
      </p:pic>
      <p:sp>
        <p:nvSpPr>
          <p:cNvPr id="17523" name="TextBox 17522"/>
          <p:cNvSpPr txBox="1"/>
          <p:nvPr/>
        </p:nvSpPr>
        <p:spPr>
          <a:xfrm>
            <a:off x="7187184" y="4261103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Strategic</a:t>
            </a:r>
          </a:p>
        </p:txBody>
      </p:sp>
      <p:sp>
        <p:nvSpPr>
          <p:cNvPr id="17524" name="TextBox 17523"/>
          <p:cNvSpPr txBox="1"/>
          <p:nvPr/>
        </p:nvSpPr>
        <p:spPr>
          <a:xfrm>
            <a:off x="8193024" y="3959351"/>
            <a:ext cx="3566159" cy="5212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Atmanirbhar: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runs on India’s own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INSAT-3DR/3DS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satellites and GFS, and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keeps forecasting when radar or lightning feeds drop out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so it covers districts </a:t>
            </a:r>
            <a:r>
              <a:rPr sz="85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beyond radar range</a:t>
            </a:r>
            <a:r>
              <a:rPr sz="85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525" name="Rounded Rectangle 17524"/>
          <p:cNvSpPr/>
          <p:nvPr/>
        </p:nvSpPr>
        <p:spPr>
          <a:xfrm>
            <a:off x="228600" y="4681728"/>
            <a:ext cx="1234440" cy="10058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6" name="TextBox 17525"/>
          <p:cNvSpPr txBox="1"/>
          <p:nvPr/>
        </p:nvSpPr>
        <p:spPr>
          <a:xfrm>
            <a:off x="338328" y="477316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150" i="0" b="0">
                <a:solidFill>
                  <a:srgbClr val="FFD166"/>
                </a:solidFill>
                <a:latin typeface="Segoe UI Black"/>
                <a:ea typeface="Segoe UI Black"/>
                <a:cs typeface="Segoe UI Black"/>
              </a:rPr>
              <a:t>Measured,</a:t>
            </a:r>
          </a:p>
          <a:p>
            <a:pPr algn="l">
              <a:lnSpc>
                <a:spcPct val="90000"/>
              </a:lnSpc>
            </a:pPr>
            <a:r>
              <a:rPr sz="1150" i="0" b="0">
                <a:solidFill>
                  <a:srgbClr val="FFD166"/>
                </a:solidFill>
                <a:latin typeface="Segoe UI Black"/>
                <a:ea typeface="Segoe UI Black"/>
                <a:cs typeface="Segoe UI Black"/>
              </a:rPr>
              <a:t>not claimed</a:t>
            </a:r>
          </a:p>
        </p:txBody>
      </p:sp>
      <p:sp>
        <p:nvSpPr>
          <p:cNvPr id="17527" name="TextBox 17526"/>
          <p:cNvSpPr txBox="1"/>
          <p:nvPr/>
        </p:nvSpPr>
        <p:spPr>
          <a:xfrm>
            <a:off x="338328" y="5184648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750" i="0" b="0">
                <a:solidFill>
                  <a:srgbClr val="CFE0F5"/>
                </a:solidFill>
                <a:latin typeface="Calibri"/>
                <a:ea typeface="Calibri"/>
                <a:cs typeface="Calibri"/>
              </a:rPr>
              <a:t>Held-out 2019 storms scored against real satellite lightning (GLM).</a:t>
            </a:r>
          </a:p>
        </p:txBody>
      </p:sp>
      <p:sp>
        <p:nvSpPr>
          <p:cNvPr id="17528" name="Rounded Rectangle 17527"/>
          <p:cNvSpPr/>
          <p:nvPr/>
        </p:nvSpPr>
        <p:spPr>
          <a:xfrm>
            <a:off x="1554480" y="4681728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EEF4FC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9" name="TextBox 17528"/>
          <p:cNvSpPr txBox="1"/>
          <p:nvPr/>
        </p:nvSpPr>
        <p:spPr>
          <a:xfrm>
            <a:off x="1664208" y="472744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i="0" b="0">
                <a:solidFill>
                  <a:srgbClr val="1565C0"/>
                </a:solidFill>
                <a:latin typeface="Segoe UI Black"/>
                <a:ea typeface="Segoe UI Black"/>
                <a:cs typeface="Segoe UI Black"/>
              </a:rPr>
              <a:t>1.8×</a:t>
            </a:r>
          </a:p>
        </p:txBody>
      </p:sp>
      <p:sp>
        <p:nvSpPr>
          <p:cNvPr id="17530" name="TextBox 17529"/>
          <p:cNvSpPr txBox="1"/>
          <p:nvPr/>
        </p:nvSpPr>
        <p:spPr>
          <a:xfrm>
            <a:off x="1664208" y="506577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5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better than persistence at hour 1</a:t>
            </a:r>
          </a:p>
        </p:txBody>
      </p:sp>
      <p:sp>
        <p:nvSpPr>
          <p:cNvPr id="17531" name="TextBox 17530"/>
          <p:cNvSpPr txBox="1"/>
          <p:nvPr/>
        </p:nvSpPr>
        <p:spPr>
          <a:xfrm>
            <a:off x="1664208" y="5330952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Lightning CSI 0.613 vs 0.341; the gap grows to 5.5× by hour 3</a:t>
            </a:r>
          </a:p>
        </p:txBody>
      </p:sp>
      <p:sp>
        <p:nvSpPr>
          <p:cNvPr id="17532" name="Rounded Rectangle 17531"/>
          <p:cNvSpPr/>
          <p:nvPr/>
        </p:nvSpPr>
        <p:spPr>
          <a:xfrm>
            <a:off x="3337560" y="4681728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FDF5E8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3" name="TextBox 17532"/>
          <p:cNvSpPr txBox="1"/>
          <p:nvPr/>
        </p:nvSpPr>
        <p:spPr>
          <a:xfrm>
            <a:off x="3447288" y="472744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i="0" b="0">
                <a:solidFill>
                  <a:srgbClr val="E08A00"/>
                </a:solidFill>
                <a:latin typeface="Segoe UI Black"/>
                <a:ea typeface="Segoe UI Black"/>
                <a:cs typeface="Segoe UI Black"/>
              </a:rPr>
              <a:t>+70%</a:t>
            </a:r>
          </a:p>
        </p:txBody>
      </p:sp>
      <p:sp>
        <p:nvSpPr>
          <p:cNvPr id="17534" name="TextBox 17533"/>
          <p:cNvSpPr txBox="1"/>
          <p:nvPr/>
        </p:nvSpPr>
        <p:spPr>
          <a:xfrm>
            <a:off x="3447288" y="506577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5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over raw NWP lightning at hour 6</a:t>
            </a:r>
          </a:p>
        </p:txBody>
      </p:sp>
      <p:sp>
        <p:nvSpPr>
          <p:cNvPr id="17535" name="TextBox 17534"/>
          <p:cNvSpPr txBox="1"/>
          <p:nvPr/>
        </p:nvSpPr>
        <p:spPr>
          <a:xfrm>
            <a:off x="3447288" y="5330952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CSI 0.297 vs 0.175, and ahead of NWP at every hour from 1 to 6</a:t>
            </a:r>
          </a:p>
        </p:txBody>
      </p:sp>
      <p:sp>
        <p:nvSpPr>
          <p:cNvPr id="17536" name="Rounded Rectangle 17535"/>
          <p:cNvSpPr/>
          <p:nvPr/>
        </p:nvSpPr>
        <p:spPr>
          <a:xfrm>
            <a:off x="5120640" y="4681728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EEF7E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7" name="TextBox 17536"/>
          <p:cNvSpPr txBox="1"/>
          <p:nvPr/>
        </p:nvSpPr>
        <p:spPr>
          <a:xfrm>
            <a:off x="5230368" y="472744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i="0" b="0">
                <a:solidFill>
                  <a:srgbClr val="138808"/>
                </a:solidFill>
                <a:latin typeface="Segoe UI Black"/>
                <a:ea typeface="Segoe UI Black"/>
                <a:cs typeface="Segoe UI Black"/>
              </a:rPr>
              <a:t>0.461</a:t>
            </a:r>
          </a:p>
        </p:txBody>
      </p:sp>
      <p:sp>
        <p:nvSpPr>
          <p:cNvPr id="17538" name="TextBox 17537"/>
          <p:cNvSpPr txBox="1"/>
          <p:nvPr/>
        </p:nvSpPr>
        <p:spPr>
          <a:xfrm>
            <a:off x="5230368" y="506577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5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hour-1 CSI with no radar</a:t>
            </a:r>
          </a:p>
        </p:txBody>
      </p:sp>
      <p:sp>
        <p:nvSpPr>
          <p:cNvPr id="17539" name="TextBox 17538"/>
          <p:cNvSpPr txBox="1"/>
          <p:nvPr/>
        </p:nvSpPr>
        <p:spPr>
          <a:xfrm>
            <a:off x="5230368" y="5330952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Satellite + NWP only: the usual case outside Indian radar coverage</a:t>
            </a:r>
          </a:p>
        </p:txBody>
      </p:sp>
      <p:sp>
        <p:nvSpPr>
          <p:cNvPr id="17540" name="Rounded Rectangle 17539"/>
          <p:cNvSpPr/>
          <p:nvPr/>
        </p:nvSpPr>
        <p:spPr>
          <a:xfrm>
            <a:off x="6903720" y="4681728"/>
            <a:ext cx="1691640" cy="1005840"/>
          </a:xfrm>
          <a:prstGeom prst="roundRect">
            <a:avLst>
              <a:gd name="adj" fmla="val 10000"/>
            </a:avLst>
          </a:prstGeom>
          <a:solidFill>
            <a:srgbClr val="FCEFE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1" name="TextBox 17540"/>
          <p:cNvSpPr txBox="1"/>
          <p:nvPr/>
        </p:nvSpPr>
        <p:spPr>
          <a:xfrm>
            <a:off x="7013448" y="472744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i="0" b="0">
                <a:solidFill>
                  <a:srgbClr val="D62828"/>
                </a:solidFill>
                <a:latin typeface="Segoe UI Black"/>
                <a:ea typeface="Segoe UI Black"/>
                <a:cs typeface="Segoe UI Black"/>
              </a:rPr>
              <a:t>0.71 vs 0.04</a:t>
            </a:r>
          </a:p>
        </p:txBody>
      </p:sp>
      <p:sp>
        <p:nvSpPr>
          <p:cNvPr id="17542" name="TextBox 17541"/>
          <p:cNvSpPr txBox="1"/>
          <p:nvPr/>
        </p:nvSpPr>
        <p:spPr>
          <a:xfrm>
            <a:off x="7013448" y="506577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5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India: storm vs dry day</a:t>
            </a:r>
          </a:p>
        </p:txBody>
      </p:sp>
      <p:sp>
        <p:nvSpPr>
          <p:cNvPr id="17543" name="TextBox 17542"/>
          <p:cNvSpPr txBox="1"/>
          <p:nvPr/>
        </p:nvSpPr>
        <p:spPr>
          <a:xfrm>
            <a:off x="7013448" y="5330952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3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Storm probability 1 h ahead: Bhubaneswar outbreak (2 Sep 2023) vs Delhi dry day</a:t>
            </a:r>
          </a:p>
        </p:txBody>
      </p:sp>
      <p:sp>
        <p:nvSpPr>
          <p:cNvPr id="17544" name="Rounded Rectangle 17543"/>
          <p:cNvSpPr/>
          <p:nvPr/>
        </p:nvSpPr>
        <p:spPr>
          <a:xfrm>
            <a:off x="8686800" y="4681728"/>
            <a:ext cx="327355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5" name="TextBox 17544"/>
          <p:cNvSpPr txBox="1"/>
          <p:nvPr/>
        </p:nvSpPr>
        <p:spPr>
          <a:xfrm>
            <a:off x="8778240" y="4727448"/>
            <a:ext cx="3090672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Lightning CSI by lead hour</a:t>
            </a:r>
            <a:r>
              <a:rPr sz="80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(higher is better)</a:t>
            </a:r>
          </a:p>
        </p:txBody>
      </p:sp>
      <p:sp>
        <p:nvSpPr>
          <p:cNvPr id="17546" name="Rectangle 17545"/>
          <p:cNvSpPr/>
          <p:nvPr/>
        </p:nvSpPr>
        <p:spPr>
          <a:xfrm>
            <a:off x="8947769" y="4886553"/>
            <a:ext cx="1054851" cy="615939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7" name="Rectangle 17546"/>
          <p:cNvSpPr/>
          <p:nvPr/>
        </p:nvSpPr>
        <p:spPr>
          <a:xfrm>
            <a:off x="10002621" y="4886553"/>
            <a:ext cx="1054851" cy="615939"/>
          </a:xfrm>
          <a:prstGeom prst="rect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8" name="TextBox 17547"/>
          <p:cNvSpPr txBox="1"/>
          <p:nvPr/>
        </p:nvSpPr>
        <p:spPr>
          <a:xfrm>
            <a:off x="9417405" y="4895697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600" i="0" b="1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TIER 1</a:t>
            </a:r>
          </a:p>
        </p:txBody>
      </p:sp>
      <p:sp>
        <p:nvSpPr>
          <p:cNvPr id="17549" name="TextBox 17548"/>
          <p:cNvSpPr txBox="1"/>
          <p:nvPr/>
        </p:nvSpPr>
        <p:spPr>
          <a:xfrm>
            <a:off x="10472257" y="4895697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600" i="0" b="1">
                <a:solidFill>
                  <a:srgbClr val="0F8B8D"/>
                </a:solidFill>
                <a:latin typeface="Segoe UI"/>
                <a:ea typeface="Segoe UI"/>
                <a:cs typeface="Segoe UI"/>
              </a:rPr>
              <a:t>TIER 2</a:t>
            </a:r>
          </a:p>
        </p:txBody>
      </p:sp>
      <p:graphicFrame>
        <p:nvGraphicFramePr>
          <p:cNvPr id="17550" name="Chart 17549"/>
          <p:cNvGraphicFramePr>
            <a:graphicFrameLocks noGrp="1"/>
          </p:cNvGraphicFramePr>
          <p:nvPr/>
        </p:nvGraphicFramePr>
        <p:xfrm>
          <a:off x="8705088" y="4864608"/>
          <a:ext cx="2359152" cy="804672"/>
        </p:xfrm>
        <a:graphic>
          <a:graphicData uri="http://schemas.openxmlformats.org/drawingml/2006/chart">
            <c:chart xmlns:c="http://schemas.openxmlformats.org/drawingml/2006/chart" r:id="rId21"/>
          </a:graphicData>
        </a:graphic>
      </p:graphicFrame>
      <p:sp>
        <p:nvSpPr>
          <p:cNvPr id="13" name="Freeform 12"/>
          <p:cNvSpPr/>
          <p:nvPr/>
        </p:nvSpPr>
        <p:spPr>
          <a:xfrm>
            <a:off x="11082528" y="501091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1" name="TextBox 17550"/>
          <p:cNvSpPr txBox="1"/>
          <p:nvPr/>
        </p:nvSpPr>
        <p:spPr>
          <a:xfrm>
            <a:off x="11265408" y="4956048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Our nowcast</a:t>
            </a:r>
          </a:p>
        </p:txBody>
      </p:sp>
      <p:sp>
        <p:nvSpPr>
          <p:cNvPr id="17552" name="TextBox 17551"/>
          <p:cNvSpPr txBox="1"/>
          <p:nvPr/>
        </p:nvSpPr>
        <p:spPr>
          <a:xfrm>
            <a:off x="11265408" y="505663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0.297 at 6 h</a:t>
            </a:r>
          </a:p>
        </p:txBody>
      </p:sp>
      <p:sp>
        <p:nvSpPr>
          <p:cNvPr id="14" name="Freeform 13"/>
          <p:cNvSpPr/>
          <p:nvPr/>
        </p:nvSpPr>
        <p:spPr>
          <a:xfrm>
            <a:off x="11082528" y="523951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25400">
            <a:solidFill>
              <a:srgbClr val="E871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3" name="TextBox 17552"/>
          <p:cNvSpPr txBox="1"/>
          <p:nvPr/>
        </p:nvSpPr>
        <p:spPr>
          <a:xfrm>
            <a:off x="11265408" y="5184648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Raw NWP</a:t>
            </a:r>
          </a:p>
        </p:txBody>
      </p:sp>
      <p:sp>
        <p:nvSpPr>
          <p:cNvPr id="17554" name="TextBox 17553"/>
          <p:cNvSpPr txBox="1"/>
          <p:nvPr/>
        </p:nvSpPr>
        <p:spPr>
          <a:xfrm>
            <a:off x="11265408" y="528523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0.175 at 6 h</a:t>
            </a:r>
          </a:p>
        </p:txBody>
      </p:sp>
      <p:sp>
        <p:nvSpPr>
          <p:cNvPr id="15" name="Freeform 14"/>
          <p:cNvSpPr/>
          <p:nvPr/>
        </p:nvSpPr>
        <p:spPr>
          <a:xfrm>
            <a:off x="11082528" y="5468112"/>
            <a:ext cx="146304" cy="0"/>
          </a:xfrm>
          <a:custGeom>
            <a:avLst/>
            <a:gdLst/>
            <a:ahLst/>
            <a:cxnLst/>
            <a:rect l="l" t="t" r="r" b="b"/>
            <a:pathLst>
              <a:path w="146304" h="0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25400">
            <a:solidFill>
              <a:srgbClr val="8A96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5" name="TextBox 17554"/>
          <p:cNvSpPr txBox="1"/>
          <p:nvPr/>
        </p:nvSpPr>
        <p:spPr>
          <a:xfrm>
            <a:off x="11265408" y="5413248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Persistence</a:t>
            </a:r>
          </a:p>
        </p:txBody>
      </p:sp>
      <p:sp>
        <p:nvSpPr>
          <p:cNvPr id="17556" name="TextBox 17555"/>
          <p:cNvSpPr txBox="1"/>
          <p:nvPr/>
        </p:nvSpPr>
        <p:spPr>
          <a:xfrm>
            <a:off x="11265408" y="551383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5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0.080 at 3 h</a:t>
            </a:r>
          </a:p>
        </p:txBody>
      </p:sp>
      <p:sp>
        <p:nvSpPr>
          <p:cNvPr id="17557" name="Rounded Rectangle 17556"/>
          <p:cNvSpPr/>
          <p:nvPr/>
        </p:nvSpPr>
        <p:spPr>
          <a:xfrm>
            <a:off x="228600" y="5760720"/>
            <a:ext cx="11731752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1E0"/>
              </a:gs>
              <a:gs pos="100000">
                <a:srgbClr val="E6F4E8"/>
              </a:gs>
            </a:gsLst>
            <a:lin scaled="0" ang="0"/>
          </a:gradFill>
          <a:ln w="12700">
            <a:solidFill>
              <a:srgbClr val="E7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58" name="TextBox 17557"/>
          <p:cNvSpPr txBox="1"/>
          <p:nvPr/>
        </p:nvSpPr>
        <p:spPr>
          <a:xfrm>
            <a:off x="228600" y="5760720"/>
            <a:ext cx="117317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i="1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“From a 3-hour to a 6-hour lightning warning: one seamless AI nowcast, built on India’s own satellites.”</a:t>
            </a:r>
          </a:p>
        </p:txBody>
      </p:sp>
      <p:pic>
        <p:nvPicPr>
          <p:cNvPr id="17559" name="Picture 17558" descr="zap_F3702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88720" y="5806440"/>
            <a:ext cx="182880" cy="182880"/>
          </a:xfrm>
          <a:prstGeom prst="rect">
            <a:avLst/>
          </a:prstGeom>
        </p:spPr>
      </p:pic>
      <p:pic>
        <p:nvPicPr>
          <p:cNvPr id="17560" name="Picture 17559" descr="zap_13880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17352" y="5806440"/>
            <a:ext cx="182880" cy="182880"/>
          </a:xfrm>
          <a:prstGeom prst="rect">
            <a:avLst/>
          </a:prstGeom>
        </p:spPr>
      </p:pic>
      <p:sp>
        <p:nvSpPr>
          <p:cNvPr id="17561" name="TextBox 17560"/>
          <p:cNvSpPr txBox="1"/>
          <p:nvPr/>
        </p:nvSpPr>
        <p:spPr>
          <a:xfrm>
            <a:off x="320040" y="6071616"/>
            <a:ext cx="1154887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680" i="0" b="0">
                <a:solidFill>
                  <a:srgbClr val="7A8594"/>
                </a:solidFill>
                <a:latin typeface="Calibri"/>
                <a:ea typeface="Calibri"/>
                <a:cs typeface="Calibri"/>
              </a:rPr>
              <a:t>CSI = critical success index for lightning in a 16 km cell during each lead hour; Tier 1 is used for hours 1–3 and Tier 2 for hours 4–6. India probabilities from GK2A satellite + GFS input, no radar. Trained on US GLM lightning, adapted to INSAT/GFS, not yet verified against Indian lightning observations. Death figures: NCRB, Accidental Deaths &amp; Suicides in India 2023.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097280"/>
            <a:ext cx="3977639" cy="5175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228600" y="1097280"/>
            <a:ext cx="3977639" cy="310896"/>
          </a:xfrm>
          <a:prstGeom prst="roundRect">
            <a:avLst>
              <a:gd name="adj" fmla="val 3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ectangle 17411"/>
          <p:cNvSpPr/>
          <p:nvPr/>
        </p:nvSpPr>
        <p:spPr>
          <a:xfrm>
            <a:off x="228600" y="1280160"/>
            <a:ext cx="3977639" cy="128016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152144"/>
            <a:ext cx="201168" cy="20116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12647" y="1097280"/>
            <a:ext cx="3520439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Sources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0040" y="16723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320040" y="167233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TRAIN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60120" y="151790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SEVIR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storm events: radar VIL, GOES-16 IR, GLM lightning. Veillette et al., NeurIPS 2020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5"/>
              </a:rPr>
              <a:t>registry.opendata.aws/sevir</a:t>
            </a:r>
            <a:r>
              <a:rPr sz="819"/>
              <a:t> </a:t>
            </a:r>
          </a:p>
        </p:txBody>
      </p:sp>
      <p:sp>
        <p:nvSpPr>
          <p:cNvPr id="2" name="Freeform 1"/>
          <p:cNvSpPr/>
          <p:nvPr/>
        </p:nvSpPr>
        <p:spPr>
          <a:xfrm>
            <a:off x="320040" y="2027935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320040" y="2200655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320040" y="220065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TRAIN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960120" y="2046223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HRRR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US weather model (NWP input + baseline), NOAA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6"/>
              </a:rPr>
              <a:t>registry.opendata.aws/noaa-hrrr-pds</a:t>
            </a:r>
            <a:r>
              <a:rPr sz="819"/>
              <a:t> </a:t>
            </a:r>
          </a:p>
        </p:txBody>
      </p:sp>
      <p:sp>
        <p:nvSpPr>
          <p:cNvPr id="3" name="Freeform 2"/>
          <p:cNvSpPr/>
          <p:nvPr/>
        </p:nvSpPr>
        <p:spPr>
          <a:xfrm>
            <a:off x="320040" y="255625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320040" y="272897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320040" y="272897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INDIA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960120" y="257454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GFS 0.25°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global weather model, NOAA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7"/>
              </a:rPr>
              <a:t>registry.opendata.aws/noaa-gfs-bdp-pds</a:t>
            </a:r>
            <a:r>
              <a:rPr sz="819"/>
              <a:t> </a:t>
            </a:r>
          </a:p>
        </p:txBody>
      </p:sp>
      <p:sp>
        <p:nvSpPr>
          <p:cNvPr id="4" name="Freeform 3"/>
          <p:cNvSpPr/>
          <p:nvPr/>
        </p:nvSpPr>
        <p:spPr>
          <a:xfrm>
            <a:off x="320040" y="308457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320040" y="3257295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320040" y="3257295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INDIA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60120" y="310286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INSAT-3DR Imager L1B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(3RIMG_L1B_STD), ISRO / SAC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8"/>
              </a:rPr>
              <a:t>mosdac.gov.in</a:t>
            </a:r>
            <a:r>
              <a:rPr sz="819"/>
              <a:t> </a:t>
            </a:r>
          </a:p>
        </p:txBody>
      </p:sp>
      <p:sp>
        <p:nvSpPr>
          <p:cNvPr id="5" name="Freeform 4"/>
          <p:cNvSpPr/>
          <p:nvPr/>
        </p:nvSpPr>
        <p:spPr>
          <a:xfrm>
            <a:off x="320040" y="361289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320040" y="378561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320040" y="378561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INDIA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60120" y="363118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GK2A AMI L1B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satellite, KMA via NOAA, no login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9"/>
              </a:rPr>
              <a:t>registry.opendata.aws/noaa-gk2a-pds</a:t>
            </a:r>
            <a:r>
              <a:rPr sz="819"/>
              <a:t> </a:t>
            </a:r>
          </a:p>
        </p:txBody>
      </p:sp>
      <p:sp>
        <p:nvSpPr>
          <p:cNvPr id="8" name="Freeform 7"/>
          <p:cNvSpPr/>
          <p:nvPr/>
        </p:nvSpPr>
        <p:spPr>
          <a:xfrm>
            <a:off x="320040" y="414121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320040" y="431393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320040" y="431393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VERIFY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960120" y="4159503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FY-4A LMI corrected lightning events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Zhang et al., ESSD 18, 5773–5791 (2026), CC-BY 4.0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0"/>
              </a:rPr>
              <a:t>doi:10.5194/essd-18-5773-2026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1"/>
              </a:rPr>
              <a:t>data</a:t>
            </a:r>
            <a:r>
              <a:rPr sz="819"/>
              <a:t> </a:t>
            </a:r>
          </a:p>
        </p:txBody>
      </p:sp>
      <p:sp>
        <p:nvSpPr>
          <p:cNvPr id="11" name="Freeform 10"/>
          <p:cNvSpPr/>
          <p:nvPr/>
        </p:nvSpPr>
        <p:spPr>
          <a:xfrm>
            <a:off x="320040" y="466953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320040" y="484225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6B7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320040" y="484225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TESTED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60120" y="4687823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ISRO Cherrapunji DWR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(RSCHR_L2B_STD), tested, not used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8"/>
              </a:rPr>
              <a:t>mosdac.gov.in</a:t>
            </a:r>
            <a:r>
              <a:rPr sz="819"/>
              <a:t> </a:t>
            </a:r>
          </a:p>
        </p:txBody>
      </p:sp>
      <p:sp>
        <p:nvSpPr>
          <p:cNvPr id="13" name="Freeform 12"/>
          <p:cNvSpPr/>
          <p:nvPr/>
        </p:nvSpPr>
        <p:spPr>
          <a:xfrm>
            <a:off x="320040" y="519785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320040" y="537057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320040" y="537057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MAPS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60120" y="521614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Survey of India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boundaries (OVSF/1M/7)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2"/>
              </a:rPr>
              <a:t>onlinemaps.surveyofindia.gov.in</a:t>
            </a:r>
            <a:r>
              <a:rPr sz="819"/>
              <a:t> </a:t>
            </a:r>
          </a:p>
        </p:txBody>
      </p:sp>
      <p:sp>
        <p:nvSpPr>
          <p:cNvPr id="14" name="Freeform 13"/>
          <p:cNvSpPr/>
          <p:nvPr/>
        </p:nvSpPr>
        <p:spPr>
          <a:xfrm>
            <a:off x="320040" y="5726176"/>
            <a:ext cx="3794760" cy="0"/>
          </a:xfrm>
          <a:custGeom>
            <a:avLst/>
            <a:gdLst/>
            <a:ahLst/>
            <a:cxnLst/>
            <a:rect l="l" t="t" r="r" b="b"/>
            <a:pathLst>
              <a:path w="3794760" h="0">
                <a:moveTo>
                  <a:pt x="0" y="0"/>
                </a:moveTo>
                <a:lnTo>
                  <a:pt x="3794760" y="0"/>
                </a:lnTo>
              </a:path>
            </a:pathLst>
          </a:custGeom>
          <a:noFill/>
          <a:ln w="9525">
            <a:solidFill>
              <a:srgbClr val="E6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320040" y="589889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320040" y="589889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6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PARTNER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960120" y="5744464"/>
            <a:ext cx="3154679" cy="491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2000"/>
              </a:lnSpc>
            </a:pPr>
            <a:r>
              <a:rPr sz="819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ILDN</a:t>
            </a:r>
            <a:r>
              <a:rPr sz="819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Indian Lightning Detection Network, CeLTS, Tripura University: partnership offered (Sep 2026) · </a:t>
            </a:r>
            <a:r>
              <a:rPr sz="819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3"/>
              </a:rPr>
              <a:t>ildn.in</a:t>
            </a:r>
            <a:r>
              <a:rPr sz="819"/>
              <a:t> 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315968" y="1097280"/>
            <a:ext cx="4343400" cy="5175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4315968" y="1097280"/>
            <a:ext cx="4343400" cy="310896"/>
          </a:xfrm>
          <a:prstGeom prst="roundRect">
            <a:avLst>
              <a:gd name="adj" fmla="val 30000"/>
            </a:avLst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Rectangle 17443"/>
          <p:cNvSpPr/>
          <p:nvPr/>
        </p:nvSpPr>
        <p:spPr>
          <a:xfrm>
            <a:off x="4315968" y="1280160"/>
            <a:ext cx="4343400" cy="128016"/>
          </a:xfrm>
          <a:prstGeom prst="rect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5" name="Picture 17444" descr="searc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5696" y="1152144"/>
            <a:ext cx="201168" cy="201168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4700016" y="1097280"/>
            <a:ext cx="388620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Methods &amp; Research Papers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443983" y="1517904"/>
            <a:ext cx="411480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6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MODEL DESIGN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4462272" y="1737360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4572000" y="1691639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Ronneberger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U-Net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MICCAI 2015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5"/>
              </a:rPr>
              <a:t>arXiv:1505.04597</a:t>
            </a:r>
            <a:r>
              <a:rPr sz="800"/>
              <a:t> 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4462272" y="1938527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4572000" y="1892807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Perez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FiLM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conditioning, AAAI 2018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6"/>
              </a:rPr>
              <a:t>arXiv:1709.07871</a:t>
            </a:r>
            <a:r>
              <a:rPr sz="800"/>
              <a:t> 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4462272" y="2139696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4572000" y="2093976"/>
            <a:ext cx="3977639" cy="3383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Leinonen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Thunderstorm nowcasting with deep learning: multi-hazard data fusion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GRL 2023 (closest prior work)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7"/>
              </a:rPr>
              <a:t>doi</a:t>
            </a:r>
            <a:r>
              <a:rPr sz="800"/>
              <a:t> 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4443983" y="2514600"/>
            <a:ext cx="411480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6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DEEP-LEARNING NOWCASTING</a:t>
            </a:r>
          </a:p>
        </p:txBody>
      </p:sp>
      <p:sp>
        <p:nvSpPr>
          <p:cNvPr id="17455" name="Oval 17454"/>
          <p:cNvSpPr/>
          <p:nvPr/>
        </p:nvSpPr>
        <p:spPr>
          <a:xfrm>
            <a:off x="4462272" y="2734056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TextBox 17455"/>
          <p:cNvSpPr txBox="1"/>
          <p:nvPr/>
        </p:nvSpPr>
        <p:spPr>
          <a:xfrm>
            <a:off x="4572000" y="2688336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Shi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ConvLSTM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precipitation nowcasting, NeurIPS 2015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8"/>
              </a:rPr>
              <a:t>arXiv:1506.04214</a:t>
            </a:r>
            <a:r>
              <a:rPr sz="800"/>
              <a:t> </a:t>
            </a:r>
          </a:p>
        </p:txBody>
      </p:sp>
      <p:sp>
        <p:nvSpPr>
          <p:cNvPr id="17457" name="Oval 17456"/>
          <p:cNvSpPr/>
          <p:nvPr/>
        </p:nvSpPr>
        <p:spPr>
          <a:xfrm>
            <a:off x="4462272" y="2935224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4572000" y="2889504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Ravuri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Skilful nowcasting with deep generative models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Nature 597 (2021)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19"/>
              </a:rPr>
              <a:t>doi</a:t>
            </a:r>
            <a:r>
              <a:rPr sz="800"/>
              <a:t> </a:t>
            </a:r>
          </a:p>
        </p:txBody>
      </p:sp>
      <p:sp>
        <p:nvSpPr>
          <p:cNvPr id="17459" name="Oval 17458"/>
          <p:cNvSpPr/>
          <p:nvPr/>
        </p:nvSpPr>
        <p:spPr>
          <a:xfrm>
            <a:off x="4462272" y="3136392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4572000" y="3090672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Gao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Earthformer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(SEVIR benchmark), NeurIPS 2022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0"/>
              </a:rPr>
              <a:t>arXiv:2207.05833</a:t>
            </a:r>
            <a:r>
              <a:rPr sz="800"/>
              <a:t> 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4443983" y="3374136"/>
            <a:ext cx="411480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6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SENSORS &amp; WEATHER MODELS</a:t>
            </a:r>
          </a:p>
        </p:txBody>
      </p:sp>
      <p:sp>
        <p:nvSpPr>
          <p:cNvPr id="17462" name="Oval 17461"/>
          <p:cNvSpPr/>
          <p:nvPr/>
        </p:nvSpPr>
        <p:spPr>
          <a:xfrm>
            <a:off x="4462272" y="3593592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TextBox 17462"/>
          <p:cNvSpPr txBox="1"/>
          <p:nvPr/>
        </p:nvSpPr>
        <p:spPr>
          <a:xfrm>
            <a:off x="4572000" y="3547872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Dowell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HRRR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Part I, Weather &amp; Forecasting 37 (2022)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1"/>
              </a:rPr>
              <a:t>doi</a:t>
            </a:r>
            <a:r>
              <a:rPr sz="800"/>
              <a:t> </a:t>
            </a:r>
          </a:p>
        </p:txBody>
      </p:sp>
      <p:sp>
        <p:nvSpPr>
          <p:cNvPr id="17464" name="Oval 17463"/>
          <p:cNvSpPr/>
          <p:nvPr/>
        </p:nvSpPr>
        <p:spPr>
          <a:xfrm>
            <a:off x="4462272" y="3794760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5" name="TextBox 17464"/>
          <p:cNvSpPr txBox="1"/>
          <p:nvPr/>
        </p:nvSpPr>
        <p:spPr>
          <a:xfrm>
            <a:off x="4572000" y="3749040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Goodman et al.,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GOES-R GLM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Atmos. Research 125 (2013)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2"/>
              </a:rPr>
              <a:t>doi</a:t>
            </a:r>
            <a:r>
              <a:rPr sz="800"/>
              <a:t> </a:t>
            </a:r>
          </a:p>
        </p:txBody>
      </p:sp>
      <p:sp>
        <p:nvSpPr>
          <p:cNvPr id="17466" name="Oval 17465"/>
          <p:cNvSpPr/>
          <p:nvPr/>
        </p:nvSpPr>
        <p:spPr>
          <a:xfrm>
            <a:off x="4462272" y="3995928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7" name="TextBox 17466"/>
          <p:cNvSpPr txBox="1"/>
          <p:nvPr/>
        </p:nvSpPr>
        <p:spPr>
          <a:xfrm>
            <a:off x="4572000" y="3950208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NOAA/NASA,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GLM Lightning Cluster-Filter ATBD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(330 ms / 16.5 km flashes)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3"/>
              </a:rPr>
              <a:t>pdf</a:t>
            </a:r>
            <a:r>
              <a:rPr sz="800"/>
              <a:t> </a:t>
            </a:r>
          </a:p>
        </p:txBody>
      </p:sp>
      <p:sp>
        <p:nvSpPr>
          <p:cNvPr id="17468" name="Oval 17467"/>
          <p:cNvSpPr/>
          <p:nvPr/>
        </p:nvSpPr>
        <p:spPr>
          <a:xfrm>
            <a:off x="4462272" y="4197096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9" name="TextBox 17468"/>
          <p:cNvSpPr txBox="1"/>
          <p:nvPr/>
        </p:nvSpPr>
        <p:spPr>
          <a:xfrm>
            <a:off x="4572000" y="4151376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Blaylock,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Herbie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NWP download tool, Zenodo ·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4"/>
              </a:rPr>
              <a:t>doi</a:t>
            </a:r>
            <a:r>
              <a:rPr sz="800"/>
              <a:t> 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4443983" y="4434840"/>
            <a:ext cx="411480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6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OUR WORK</a:t>
            </a:r>
          </a:p>
        </p:txBody>
      </p:sp>
      <p:sp>
        <p:nvSpPr>
          <p:cNvPr id="17471" name="Oval 17470"/>
          <p:cNvSpPr/>
          <p:nvPr/>
        </p:nvSpPr>
        <p:spPr>
          <a:xfrm>
            <a:off x="4462272" y="4654296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2" name="TextBox 17471"/>
          <p:cNvSpPr txBox="1"/>
          <p:nvPr/>
        </p:nvSpPr>
        <p:spPr>
          <a:xfrm>
            <a:off x="4572000" y="4608576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Tadit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frozen results and scorecard,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5"/>
              </a:rPr>
              <a:t>results/RESULTS.md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· live site </a:t>
            </a:r>
            <a:r>
              <a:rPr sz="80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26"/>
              </a:rPr>
              <a:t>tadit.pages.dev</a:t>
            </a:r>
            <a:r>
              <a:rPr sz="800"/>
              <a:t> 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4443983" y="4892040"/>
            <a:ext cx="411480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60" i="0" b="1">
                <a:solidFill>
                  <a:srgbClr val="5B3FA8"/>
                </a:solidFill>
                <a:latin typeface="Segoe UI"/>
                <a:ea typeface="Segoe UI"/>
                <a:cs typeface="Segoe UI"/>
              </a:rPr>
              <a:t>VERIFICATION &amp; PHYSICS</a:t>
            </a:r>
          </a:p>
        </p:txBody>
      </p:sp>
      <p:sp>
        <p:nvSpPr>
          <p:cNvPr id="17474" name="Oval 17473"/>
          <p:cNvSpPr/>
          <p:nvPr/>
        </p:nvSpPr>
        <p:spPr>
          <a:xfrm>
            <a:off x="4462272" y="5111496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TextBox 17474"/>
          <p:cNvSpPr txBox="1"/>
          <p:nvPr/>
        </p:nvSpPr>
        <p:spPr>
          <a:xfrm>
            <a:off x="4572000" y="5065776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Schaefer,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Critical success index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as a warning-skill score, Weather &amp; Forecasting 1990</a:t>
            </a:r>
          </a:p>
        </p:txBody>
      </p:sp>
      <p:sp>
        <p:nvSpPr>
          <p:cNvPr id="17476" name="Oval 17475"/>
          <p:cNvSpPr/>
          <p:nvPr/>
        </p:nvSpPr>
        <p:spPr>
          <a:xfrm>
            <a:off x="4462272" y="5312664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4572000" y="5266944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Greene &amp; Clark,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Vertically integrated liquid (VIL)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from radar, Monthly Weather Review 1972</a:t>
            </a:r>
          </a:p>
        </p:txBody>
      </p:sp>
      <p:sp>
        <p:nvSpPr>
          <p:cNvPr id="17478" name="Oval 17477"/>
          <p:cNvSpPr/>
          <p:nvPr/>
        </p:nvSpPr>
        <p:spPr>
          <a:xfrm>
            <a:off x="4462272" y="5513831"/>
            <a:ext cx="45720" cy="4572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9" name="TextBox 17478"/>
          <p:cNvSpPr txBox="1"/>
          <p:nvPr/>
        </p:nvSpPr>
        <p:spPr>
          <a:xfrm>
            <a:off x="4572000" y="5468112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Maddox, </a:t>
            </a:r>
            <a:r>
              <a:rPr sz="80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Mesoscale convective complexes</a:t>
            </a:r>
            <a:r>
              <a:rPr sz="80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(−52 °C cloud-top threshold), BAMS 1980</a:t>
            </a:r>
          </a:p>
        </p:txBody>
      </p:sp>
      <p:sp>
        <p:nvSpPr>
          <p:cNvPr id="17480" name="Rounded Rectangle 17479">
            <a:hlinkClick r:id="rId26"/>
          </p:cNvPr>
          <p:cNvSpPr/>
          <p:nvPr/>
        </p:nvSpPr>
        <p:spPr>
          <a:xfrm>
            <a:off x="8769095" y="1097280"/>
            <a:ext cx="3191256" cy="438912"/>
          </a:xfrm>
          <a:prstGeom prst="roundRect">
            <a:avLst>
              <a:gd name="adj" fmla="val 30000"/>
            </a:avLst>
          </a:prstGeom>
          <a:solidFill>
            <a:srgbClr val="F37021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1" name="Picture 17480" descr="users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97111" y="1197864"/>
            <a:ext cx="237744" cy="237744"/>
          </a:xfrm>
          <a:prstGeom prst="rect">
            <a:avLst/>
          </a:prstGeom>
        </p:spPr>
      </p:pic>
      <p:sp>
        <p:nvSpPr>
          <p:cNvPr id="17482" name="TextBox 17481">
            <a:hlinkClick r:id="rId26"/>
          </p:cNvPr>
          <p:cNvSpPr txBox="1"/>
          <p:nvPr/>
        </p:nvSpPr>
        <p:spPr>
          <a:xfrm>
            <a:off x="9226295" y="1133856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Live prototype:</a:t>
            </a:r>
            <a:r>
              <a:rPr sz="900" i="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click here</a:t>
            </a:r>
          </a:p>
          <a:p>
            <a:pPr algn="l">
              <a:lnSpc>
                <a:spcPct val="90000"/>
              </a:lnSpc>
            </a:pPr>
            <a:r>
              <a:rPr sz="700" i="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tadit.pages.dev</a:t>
            </a:r>
          </a:p>
        </p:txBody>
      </p:sp>
      <p:sp>
        <p:nvSpPr>
          <p:cNvPr id="17483" name="Rounded Rectangle 17482">
            <a:hlinkClick r:id="rId28"/>
          </p:cNvPr>
          <p:cNvSpPr/>
          <p:nvPr/>
        </p:nvSpPr>
        <p:spPr>
          <a:xfrm>
            <a:off x="8769095" y="1609344"/>
            <a:ext cx="3191256" cy="438912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4" name="Picture 17483" descr="cod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97111" y="1709928"/>
            <a:ext cx="237744" cy="237744"/>
          </a:xfrm>
          <a:prstGeom prst="rect">
            <a:avLst/>
          </a:prstGeom>
        </p:spPr>
      </p:pic>
      <p:sp>
        <p:nvSpPr>
          <p:cNvPr id="17485" name="TextBox 17484">
            <a:hlinkClick r:id="rId28"/>
          </p:cNvPr>
          <p:cNvSpPr txBox="1"/>
          <p:nvPr/>
        </p:nvSpPr>
        <p:spPr>
          <a:xfrm>
            <a:off x="9226295" y="1645920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90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Code &amp; results:</a:t>
            </a:r>
            <a:r>
              <a:rPr sz="900" i="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click here</a:t>
            </a:r>
          </a:p>
          <a:p>
            <a:pPr algn="l">
              <a:lnSpc>
                <a:spcPct val="90000"/>
              </a:lnSpc>
            </a:pPr>
            <a:r>
              <a:rPr sz="700" i="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github.com/adit1290codesrank/sih2026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8769095" y="2139696"/>
            <a:ext cx="3191256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7" name="Rounded Rectangle 17486"/>
          <p:cNvSpPr/>
          <p:nvPr/>
        </p:nvSpPr>
        <p:spPr>
          <a:xfrm>
            <a:off x="8769095" y="2139696"/>
            <a:ext cx="3191256" cy="310896"/>
          </a:xfrm>
          <a:prstGeom prst="roundRect">
            <a:avLst>
              <a:gd name="adj" fmla="val 3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8" name="Rectangle 17487"/>
          <p:cNvSpPr/>
          <p:nvPr/>
        </p:nvSpPr>
        <p:spPr>
          <a:xfrm>
            <a:off x="8769095" y="2322576"/>
            <a:ext cx="3191256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9" name="Picture 17488" descr="shieldcheck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878823" y="2194560"/>
            <a:ext cx="201168" cy="201168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9153143" y="2139696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India Check vs Real Lightning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8878823" y="2505456"/>
            <a:ext cx="300837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2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FY-4A satellite lightning, CSI for hours 1 / 2 / 3 (persistence in brackets)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8860535" y="2816352"/>
            <a:ext cx="3008376" cy="228600"/>
          </a:xfrm>
          <a:prstGeom prst="roundRect">
            <a:avLst>
              <a:gd name="adj" fmla="val 30000"/>
            </a:avLst>
          </a:prstGeom>
          <a:solidFill>
            <a:srgbClr val="EE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3" name="TextBox 17492"/>
          <p:cNvSpPr txBox="1"/>
          <p:nvPr/>
        </p:nvSpPr>
        <p:spPr>
          <a:xfrm>
            <a:off x="8933687" y="281635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Bhubaneswar · GK2A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10012679" y="2816352"/>
            <a:ext cx="1819656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38808"/>
                </a:solidFill>
                <a:latin typeface="Calibri"/>
                <a:ea typeface="Calibri"/>
                <a:cs typeface="Calibri"/>
              </a:rPr>
              <a:t>0.24 / 0.22 / 0.20</a:t>
            </a:r>
            <a:r>
              <a:rPr sz="69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(0.20 / 0.01 / 0.00)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8860535" y="3108960"/>
            <a:ext cx="3008376" cy="228600"/>
          </a:xfrm>
          <a:prstGeom prst="roundRect">
            <a:avLst>
              <a:gd name="adj" fmla="val 30000"/>
            </a:avLst>
          </a:prstGeom>
          <a:solidFill>
            <a:srgbClr val="EE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6" name="TextBox 17495"/>
          <p:cNvSpPr txBox="1"/>
          <p:nvPr/>
        </p:nvSpPr>
        <p:spPr>
          <a:xfrm>
            <a:off x="8933687" y="3108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Bhubaneswar · INSAT</a:t>
            </a:r>
          </a:p>
        </p:txBody>
      </p:sp>
      <p:sp>
        <p:nvSpPr>
          <p:cNvPr id="17497" name="TextBox 17496"/>
          <p:cNvSpPr txBox="1"/>
          <p:nvPr/>
        </p:nvSpPr>
        <p:spPr>
          <a:xfrm>
            <a:off x="10012679" y="3108960"/>
            <a:ext cx="1819656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38808"/>
                </a:solidFill>
                <a:latin typeface="Calibri"/>
                <a:ea typeface="Calibri"/>
                <a:cs typeface="Calibri"/>
              </a:rPr>
              <a:t>0.24 / 0.16 / 0.13</a:t>
            </a:r>
            <a:r>
              <a:rPr sz="69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(0.20 / 0.01 / 0.00)</a:t>
            </a:r>
          </a:p>
        </p:txBody>
      </p:sp>
      <p:sp>
        <p:nvSpPr>
          <p:cNvPr id="17498" name="Rounded Rectangle 17497"/>
          <p:cNvSpPr/>
          <p:nvPr/>
        </p:nvSpPr>
        <p:spPr>
          <a:xfrm>
            <a:off x="8860535" y="3401568"/>
            <a:ext cx="3008376" cy="228600"/>
          </a:xfrm>
          <a:prstGeom prst="roundRect">
            <a:avLst>
              <a:gd name="adj" fmla="val 30000"/>
            </a:avLst>
          </a:prstGeom>
          <a:solidFill>
            <a:srgbClr val="EE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9" name="TextBox 17498"/>
          <p:cNvSpPr txBox="1"/>
          <p:nvPr/>
        </p:nvSpPr>
        <p:spPr>
          <a:xfrm>
            <a:off x="8933687" y="340156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B2533"/>
                </a:solidFill>
                <a:latin typeface="Segoe UI"/>
                <a:ea typeface="Segoe UI"/>
                <a:cs typeface="Segoe UI"/>
              </a:rPr>
              <a:t>Guwahati · INSAT</a:t>
            </a:r>
          </a:p>
        </p:txBody>
      </p:sp>
      <p:sp>
        <p:nvSpPr>
          <p:cNvPr id="17500" name="TextBox 17499"/>
          <p:cNvSpPr txBox="1"/>
          <p:nvPr/>
        </p:nvSpPr>
        <p:spPr>
          <a:xfrm>
            <a:off x="10012679" y="3401568"/>
            <a:ext cx="1819656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90" i="0" b="1">
                <a:solidFill>
                  <a:srgbClr val="138808"/>
                </a:solidFill>
                <a:latin typeface="Calibri"/>
                <a:ea typeface="Calibri"/>
                <a:cs typeface="Calibri"/>
              </a:rPr>
              <a:t>hour 6: MODERATE risk</a:t>
            </a:r>
            <a:r>
              <a:rPr sz="690" i="0" b="0">
                <a:solidFill>
                  <a:srgbClr val="6B7787"/>
                </a:solidFill>
                <a:latin typeface="Calibri"/>
                <a:ea typeface="Calibri"/>
                <a:cs typeface="Calibri"/>
              </a:rPr>
              <a:t> storm hit the city then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8769095" y="3803903"/>
            <a:ext cx="3191256" cy="1152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2" name="Rounded Rectangle 17501"/>
          <p:cNvSpPr/>
          <p:nvPr/>
        </p:nvSpPr>
        <p:spPr>
          <a:xfrm>
            <a:off x="8769095" y="3803903"/>
            <a:ext cx="3191256" cy="310896"/>
          </a:xfrm>
          <a:prstGeom prst="roundRect">
            <a:avLst>
              <a:gd name="adj" fmla="val 30000"/>
            </a:avLst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3" name="Rectangle 17502"/>
          <p:cNvSpPr/>
          <p:nvPr/>
        </p:nvSpPr>
        <p:spPr>
          <a:xfrm>
            <a:off x="8769095" y="3986783"/>
            <a:ext cx="3191256" cy="128016"/>
          </a:xfrm>
          <a:prstGeom prst="rect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4" name="Picture 17503" descr="alert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78823" y="3858767"/>
            <a:ext cx="201168" cy="201168"/>
          </a:xfrm>
          <a:prstGeom prst="rect">
            <a:avLst/>
          </a:prstGeom>
        </p:spPr>
      </p:pic>
      <p:sp>
        <p:nvSpPr>
          <p:cNvPr id="17505" name="TextBox 17504"/>
          <p:cNvSpPr txBox="1"/>
          <p:nvPr/>
        </p:nvSpPr>
        <p:spPr>
          <a:xfrm>
            <a:off x="9153143" y="3803903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Real Storms We Forecast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8878823" y="4187951"/>
            <a:ext cx="3008376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78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Bhubaneswar, 2 Sep 2023: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61,000 lightning strikes in two hours (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2"/>
              </a:rPr>
              <a:t>Organiser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); 10 killed in six districts (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3"/>
              </a:rPr>
              <a:t>Deccan Herald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78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Kolkata, 9 May 2024: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thundersquall and hailstorms lash the city (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4"/>
              </a:rPr>
              <a:t>ThePrint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8769095" y="5047487"/>
            <a:ext cx="3191256" cy="12252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50800" dist="19050" dir="5400000" algn="t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8" name="Rounded Rectangle 17507"/>
          <p:cNvSpPr/>
          <p:nvPr/>
        </p:nvSpPr>
        <p:spPr>
          <a:xfrm>
            <a:off x="8769095" y="5047487"/>
            <a:ext cx="3191256" cy="310896"/>
          </a:xfrm>
          <a:prstGeom prst="roundRect">
            <a:avLst>
              <a:gd name="adj" fmla="val 3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9" name="Rectangle 17508"/>
          <p:cNvSpPr/>
          <p:nvPr/>
        </p:nvSpPr>
        <p:spPr>
          <a:xfrm>
            <a:off x="8769095" y="5230367"/>
            <a:ext cx="3191256" cy="12801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0" name="Picture 17509" descr="landmark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878823" y="5102351"/>
            <a:ext cx="201168" cy="201168"/>
          </a:xfrm>
          <a:prstGeom prst="rect">
            <a:avLst/>
          </a:prstGeom>
        </p:spPr>
      </p:pic>
      <p:sp>
        <p:nvSpPr>
          <p:cNvPr id="17511" name="TextBox 17510"/>
          <p:cNvSpPr txBox="1"/>
          <p:nvPr/>
        </p:nvSpPr>
        <p:spPr>
          <a:xfrm>
            <a:off x="9153143" y="5047487"/>
            <a:ext cx="2734056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i="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Government Sources</a:t>
            </a:r>
          </a:p>
        </p:txBody>
      </p:sp>
      <p:sp>
        <p:nvSpPr>
          <p:cNvPr id="17512" name="TextBox 17511"/>
          <p:cNvSpPr txBox="1"/>
          <p:nvPr/>
        </p:nvSpPr>
        <p:spPr>
          <a:xfrm>
            <a:off x="8878823" y="5431535"/>
            <a:ext cx="300837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NCRB, </a:t>
            </a:r>
            <a:r>
              <a:rPr sz="78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Accidental Deaths &amp; Suicides in India 2023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(lightning deaths) · 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6"/>
              </a:rPr>
              <a:t>data.gov.in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IMD </a:t>
            </a:r>
            <a:r>
              <a:rPr sz="78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station-wise nowcast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 service (3 h horizon) · 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7"/>
              </a:rPr>
              <a:t>mausam.imd.gov.in</a:t>
            </a:r>
          </a:p>
          <a:p>
            <a:pPr algn="l">
              <a:lnSpc>
                <a:spcPct val="92000"/>
              </a:lnSpc>
              <a:spcAft>
                <a:spcPts val="300"/>
              </a:spcAft>
            </a:pP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Cabinet approves </a:t>
            </a:r>
            <a:r>
              <a:rPr sz="780" i="0" b="1">
                <a:solidFill>
                  <a:srgbClr val="1B2533"/>
                </a:solidFill>
                <a:latin typeface="Calibri"/>
                <a:ea typeface="Calibri"/>
                <a:cs typeface="Calibri"/>
              </a:rPr>
              <a:t>Mission Mausam</a:t>
            </a:r>
            <a:r>
              <a:rPr sz="780" i="0" b="0">
                <a:solidFill>
                  <a:srgbClr val="3D4A5C"/>
                </a:solidFill>
                <a:latin typeface="Calibri"/>
                <a:ea typeface="Calibri"/>
                <a:cs typeface="Calibri"/>
              </a:rPr>
              <a:t>, 2024 · </a:t>
            </a:r>
            <a:r>
              <a:rPr sz="780" i="0" b="0" u="sng">
                <a:solidFill>
                  <a:srgbClr val="0B5CAD"/>
                </a:solidFill>
                <a:latin typeface="Calibri"/>
                <a:ea typeface="Calibri"/>
                <a:cs typeface="Calibri"/>
                <a:hlinkClick r:id="rId38"/>
              </a:rPr>
              <a:t>pmindia.gov.in</a:t>
            </a:r>
            <a:r>
              <a:rPr sz="7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7662</TotalTime>
  <Words>346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 Rahul Goyal</cp:lastModifiedBy>
  <cp:revision>149</cp:revision>
  <dcterms:created xsi:type="dcterms:W3CDTF">2013-12-12T18:46:50Z</dcterms:created>
  <dcterms:modified xsi:type="dcterms:W3CDTF">2026-09-29T17:11:30Z</dcterms:modified>
  <cp:category/>
</cp:coreProperties>
</file>