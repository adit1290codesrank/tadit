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ln w="19050">
              <a:solidFill>
                <a:srgbClr val="8A96A3"/>
              </a:solidFill>
              <a:prstDash val="dash"/>
            </a:ln>
          </c:spPr>
          <c:marker>
            <c:symbol val="circle"/>
            <c:size val="4"/>
            <c:spPr>
              <a:solidFill>
                <a:srgbClr val="8A96A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0.341</c:v>
                </c:pt>
                <c:pt idx="1">
                  <c:v>0.133</c:v>
                </c:pt>
                <c:pt idx="2">
                  <c:v>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Raw NWP (HRRR)</c:v>
                </c:pt>
              </c:strCache>
            </c:strRef>
          </c:tx>
          <c:spPr>
            <a:ln w="22225">
              <a:solidFill>
                <a:srgbClr val="E8710A"/>
              </a:solidFill>
            </a:ln>
          </c:spPr>
          <c:marker>
            <c:symbol val="circle"/>
            <c:size val="4"/>
            <c:spPr>
              <a:solidFill>
                <a:srgbClr val="E8710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0.266</c:v>
                </c:pt>
                <c:pt idx="1">
                  <c:v>0.222</c:v>
                </c:pt>
                <c:pt idx="2">
                  <c:v>0.197</c:v>
                </c:pt>
                <c:pt idx="3">
                  <c:v>0.186</c:v>
                </c:pt>
                <c:pt idx="4">
                  <c:v>0.181</c:v>
                </c:pt>
                <c:pt idx="5">
                  <c:v>0.175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nowcast</c:v>
                </c:pt>
              </c:strCache>
            </c:strRef>
          </c:tx>
          <c:spPr>
            <a:ln w="31750">
              <a:solidFill>
                <a:srgbClr val="1565C0"/>
              </a:solidFill>
            </a:ln>
          </c:spPr>
          <c:marker>
            <c:symbol val="circle"/>
            <c:size val="5"/>
            <c:spPr>
              <a:solidFill>
                <a:srgbClr val="1565C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0.613</c:v>
                </c:pt>
                <c:pt idx="1">
                  <c:v>0.497</c:v>
                </c:pt>
                <c:pt idx="2">
                  <c:v>0.44</c:v>
                </c:pt>
                <c:pt idx="3">
                  <c:v>0.319</c:v>
                </c:pt>
                <c:pt idx="4">
                  <c:v>0.305</c:v>
                </c:pt>
                <c:pt idx="5">
                  <c:v>0.297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 w="6350">
              <a:solidFill>
                <a:srgbClr val="D5DCE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50">
          <a:solidFill>
            <a:srgbClr val="6B778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adit.pages.dev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6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image" Target="../media/image23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Relationship Id="rId16" Type="http://schemas.openxmlformats.org/officeDocument/2006/relationships/image" Target="../media/image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30.png"/><Relationship Id="rId7" Type="http://schemas.openxmlformats.org/officeDocument/2006/relationships/image" Target="../media/image23.png"/><Relationship Id="rId8" Type="http://schemas.openxmlformats.org/officeDocument/2006/relationships/image" Target="../media/image31.png"/><Relationship Id="rId9" Type="http://schemas.openxmlformats.org/officeDocument/2006/relationships/image" Target="../media/image11.png"/><Relationship Id="rId10" Type="http://schemas.openxmlformats.org/officeDocument/2006/relationships/image" Target="../media/image32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33.png"/><Relationship Id="rId14" Type="http://schemas.openxmlformats.org/officeDocument/2006/relationships/image" Target="../media/image24.png"/><Relationship Id="rId15" Type="http://schemas.openxmlformats.org/officeDocument/2006/relationships/image" Target="../media/image27.png"/><Relationship Id="rId16" Type="http://schemas.openxmlformats.org/officeDocument/2006/relationships/image" Target="../media/image34.png"/><Relationship Id="rId17" Type="http://schemas.openxmlformats.org/officeDocument/2006/relationships/image" Target="../media/image35.png"/><Relationship Id="rId18" Type="http://schemas.openxmlformats.org/officeDocument/2006/relationships/image" Target="../media/image14.png"/><Relationship Id="rId19" Type="http://schemas.openxmlformats.org/officeDocument/2006/relationships/image" Target="../media/image12.png"/><Relationship Id="rId20" Type="http://schemas.openxmlformats.org/officeDocument/2006/relationships/image" Target="../media/image25.png"/><Relationship Id="rId21" Type="http://schemas.openxmlformats.org/officeDocument/2006/relationships/image" Target="../media/image19.png"/><Relationship Id="rId22" Type="http://schemas.openxmlformats.org/officeDocument/2006/relationships/image" Target="../media/image36.png"/><Relationship Id="rId23" Type="http://schemas.openxmlformats.org/officeDocument/2006/relationships/image" Target="../media/image3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35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9.png"/><Relationship Id="rId12" Type="http://schemas.openxmlformats.org/officeDocument/2006/relationships/image" Target="../media/image18.png"/><Relationship Id="rId13" Type="http://schemas.openxmlformats.org/officeDocument/2006/relationships/image" Target="../media/image11.png"/><Relationship Id="rId14" Type="http://schemas.openxmlformats.org/officeDocument/2006/relationships/image" Target="../media/image13.png"/><Relationship Id="rId15" Type="http://schemas.openxmlformats.org/officeDocument/2006/relationships/image" Target="../media/image19.png"/><Relationship Id="rId16" Type="http://schemas.openxmlformats.org/officeDocument/2006/relationships/image" Target="../media/image42.png"/><Relationship Id="rId17" Type="http://schemas.openxmlformats.org/officeDocument/2006/relationships/image" Target="../media/image17.png"/><Relationship Id="rId18" Type="http://schemas.openxmlformats.org/officeDocument/2006/relationships/image" Target="../media/image43.png"/><Relationship Id="rId19" Type="http://schemas.openxmlformats.org/officeDocument/2006/relationships/image" Target="../media/image33.png"/><Relationship Id="rId20" Type="http://schemas.openxmlformats.org/officeDocument/2006/relationships/image" Target="../media/image44.png"/><Relationship Id="rId21" Type="http://schemas.openxmlformats.org/officeDocument/2006/relationships/chart" Target="../charts/chart1.xml"/><Relationship Id="rId22" Type="http://schemas.openxmlformats.org/officeDocument/2006/relationships/image" Target="../media/image45.png"/><Relationship Id="rId23" Type="http://schemas.openxmlformats.org/officeDocument/2006/relationships/image" Target="../media/image4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hyperlink" Target="https://registry.opendata.aws/sevir/" TargetMode="External"/><Relationship Id="rId6" Type="http://schemas.openxmlformats.org/officeDocument/2006/relationships/hyperlink" Target="https://registry.opendata.aws/noaa-hrrr-pds/" TargetMode="External"/><Relationship Id="rId7" Type="http://schemas.openxmlformats.org/officeDocument/2006/relationships/hyperlink" Target="https://registry.opendata.aws/noaa-gfs-bdp-pds/" TargetMode="External"/><Relationship Id="rId8" Type="http://schemas.openxmlformats.org/officeDocument/2006/relationships/hyperlink" Target="https://www.mosdac.gov.in" TargetMode="External"/><Relationship Id="rId9" Type="http://schemas.openxmlformats.org/officeDocument/2006/relationships/hyperlink" Target="https://registry.opendata.aws/noaa-gk2a-pds/" TargetMode="External"/><Relationship Id="rId10" Type="http://schemas.openxmlformats.org/officeDocument/2006/relationships/hyperlink" Target="https://essd.copernicus.org/articles/18/5773/2026/" TargetMode="External"/><Relationship Id="rId11" Type="http://schemas.openxmlformats.org/officeDocument/2006/relationships/hyperlink" Target="https://doi.org/10.11888/Atmos.tpdc.303312" TargetMode="External"/><Relationship Id="rId12" Type="http://schemas.openxmlformats.org/officeDocument/2006/relationships/hyperlink" Target="https://onlinemaps.surveyofindia.gov.in" TargetMode="External"/><Relationship Id="rId13" Type="http://schemas.openxmlformats.org/officeDocument/2006/relationships/hyperlink" Target="https://ildn.in" TargetMode="External"/><Relationship Id="rId14" Type="http://schemas.openxmlformats.org/officeDocument/2006/relationships/image" Target="../media/image25.png"/><Relationship Id="rId15" Type="http://schemas.openxmlformats.org/officeDocument/2006/relationships/hyperlink" Target="https://arxiv.org/abs/1505.04597" TargetMode="External"/><Relationship Id="rId16" Type="http://schemas.openxmlformats.org/officeDocument/2006/relationships/hyperlink" Target="https://arxiv.org/abs/1709.07871" TargetMode="External"/><Relationship Id="rId17" Type="http://schemas.openxmlformats.org/officeDocument/2006/relationships/hyperlink" Target="https://doi.org/10.1029/2022GL101626" TargetMode="External"/><Relationship Id="rId18" Type="http://schemas.openxmlformats.org/officeDocument/2006/relationships/hyperlink" Target="https://arxiv.org/abs/1506.04214" TargetMode="External"/><Relationship Id="rId19" Type="http://schemas.openxmlformats.org/officeDocument/2006/relationships/hyperlink" Target="https://doi.org/10.1038/s41586-021-03854-z" TargetMode="External"/><Relationship Id="rId20" Type="http://schemas.openxmlformats.org/officeDocument/2006/relationships/hyperlink" Target="https://arxiv.org/abs/2207.05833" TargetMode="External"/><Relationship Id="rId21" Type="http://schemas.openxmlformats.org/officeDocument/2006/relationships/hyperlink" Target="https://doi.org/10.1175/WAF-D-21-0151.1" TargetMode="External"/><Relationship Id="rId22" Type="http://schemas.openxmlformats.org/officeDocument/2006/relationships/hyperlink" Target="https://doi.org/10.1016/j.atmosres.2013.01.006" TargetMode="External"/><Relationship Id="rId23" Type="http://schemas.openxmlformats.org/officeDocument/2006/relationships/hyperlink" Target="https://www.star.nesdis.noaa.gov/goesr/documents/ATBDs/Baseline/ATBD_GOES-R_GLM_v3.0_Jul2012.pdf" TargetMode="External"/><Relationship Id="rId24" Type="http://schemas.openxmlformats.org/officeDocument/2006/relationships/hyperlink" Target="https://doi.org/10.5281/zenodo.4567540" TargetMode="External"/><Relationship Id="rId25" Type="http://schemas.openxmlformats.org/officeDocument/2006/relationships/hyperlink" Target="https://github.com/adit1290codesrank/sih2026/blob/main/results/RESULTS.md" TargetMode="External"/><Relationship Id="rId26" Type="http://schemas.openxmlformats.org/officeDocument/2006/relationships/hyperlink" Target="https://tadit.pages.dev/" TargetMode="External"/><Relationship Id="rId27" Type="http://schemas.openxmlformats.org/officeDocument/2006/relationships/image" Target="../media/image9.png"/><Relationship Id="rId28" Type="http://schemas.openxmlformats.org/officeDocument/2006/relationships/hyperlink" Target="https://github.com/adit1290codesrank/sih2026" TargetMode="External"/><Relationship Id="rId29" Type="http://schemas.openxmlformats.org/officeDocument/2006/relationships/image" Target="../media/image23.png"/><Relationship Id="rId30" Type="http://schemas.openxmlformats.org/officeDocument/2006/relationships/image" Target="../media/image32.png"/><Relationship Id="rId31" Type="http://schemas.openxmlformats.org/officeDocument/2006/relationships/image" Target="../media/image14.png"/><Relationship Id="rId32" Type="http://schemas.openxmlformats.org/officeDocument/2006/relationships/hyperlink" Target="https://organiser.org/2023/09/05/194084/bharat/odisha-61000-lightning-strikes-hit-bhubaneshwar-in-two-hours-leaving-10-people-dead/" TargetMode="External"/><Relationship Id="rId33" Type="http://schemas.openxmlformats.org/officeDocument/2006/relationships/hyperlink" Target="https://www.deccanherald.com/india/odisha/10-killed-in-lightning-strikes-in-odisha-2670909" TargetMode="External"/><Relationship Id="rId34" Type="http://schemas.openxmlformats.org/officeDocument/2006/relationships/hyperlink" Target="https://theprint.in/india/thundersquall-hailstorms-lash-kolkata-adjoining-districts-met-forecasts-more-till-may-12/2077151/" TargetMode="External"/><Relationship Id="rId35" Type="http://schemas.openxmlformats.org/officeDocument/2006/relationships/image" Target="../media/image35.png"/><Relationship Id="rId36" Type="http://schemas.openxmlformats.org/officeDocument/2006/relationships/hyperlink" Target="https://www.data.gov.in/catalog/accidental-deaths-suicides-india-adsi-2023" TargetMode="External"/><Relationship Id="rId37" Type="http://schemas.openxmlformats.org/officeDocument/2006/relationships/hyperlink" Target="https://mausam.imd.gov.in/imd_latest/contents/stationwise-nowcast-warning.php" TargetMode="External"/><Relationship Id="rId38" Type="http://schemas.openxmlformats.org/officeDocument/2006/relationships/hyperlink" Target="https://www.pmindia.gov.in/en/news_updates/cabinet-approves-mission-mausam-to-create-a-more-weather-ready-and-climate-smart-bharat-with-an-outlay-of-rs-2000-crore-over-two-year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lang="en-US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TADIT </a:t>
            </a:r>
            <a:r>
              <a:rPr sz="2800" b="1">
                <a:solidFill>
                  <a:srgbClr val="F37021"/>
                </a:solidFill>
                <a:latin typeface="Nirmala UI"/>
              </a:rPr>
              <a:t>(तड़ित)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1600" i="1">
                <a:solidFill>
                  <a:srgbClr val="3D4A5C"/>
                </a:solidFill>
                <a:latin typeface="Times New Roman"/>
              </a:rPr>
              <a:t>AI nowcasting of thunderstorms &amp; lightning, 0–6 hours ahead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28662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SIH26072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AIML Based Nowcasting of Thunderstorm and Lightning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45720"/>
            <a:ext cx="10972800" cy="1143000"/>
          </a:xfrm>
        </p:spPr>
        <p:txBody>
          <a:bodyPr anchor="ctr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TADIT: AI LIGHTNING NOWCASTING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28600" y="1097280"/>
            <a:ext cx="11731752" cy="40233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3" name="Picture 15362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61288"/>
            <a:ext cx="274320" cy="2743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04088" y="1097280"/>
            <a:ext cx="85953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(तड़ित = lightning) fuses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radar, satellite, lightning and weather-model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data into one AI that forecasts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where lightning will strike, every 10 min, up to 6 h ahead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26880" y="1161288"/>
            <a:ext cx="2542032" cy="274320"/>
          </a:xfrm>
          <a:prstGeom prst="roundRect">
            <a:avLst>
              <a:gd name="adj" fmla="val 50000"/>
            </a:avLst>
          </a:prstGeom>
          <a:solidFill>
            <a:srgbClr val="FF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9326880" y="1161288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50" i="0" b="1" u="sng">
                <a:solidFill>
                  <a:srgbClr val="0B2545"/>
                </a:solidFill>
                <a:latin typeface="Segoe UI"/>
                <a:ea typeface="Segoe UI"/>
                <a:cs typeface="Segoe UI"/>
                <a:hlinkClick r:id="rId5"/>
              </a:rPr>
              <a:t>Live prototype: tadit.pages.dev</a:t>
            </a:r>
            <a:r>
              <a:rPr sz="950">
                <a:solidFill>
                  <a:srgbClr val="0B2545"/>
                </a:solidFill>
              </a:rPr>
              <a:t> 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28600" y="1591056"/>
            <a:ext cx="3703320" cy="46817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228600" y="1591056"/>
            <a:ext cx="3703320" cy="347472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228600" y="1792224"/>
            <a:ext cx="370332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1655064"/>
            <a:ext cx="219456" cy="219456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9224" y="159105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Proposed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20040" y="2011680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393192" y="2237536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8" y="2303373"/>
            <a:ext cx="197510" cy="197510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795528" y="2048256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Multimodal AI fusion: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one model reads Doppler radar, INSAT / GK2A satellite imagery, lightning strikes and GFS weather-model fields together.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2856585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Oval 15376"/>
          <p:cNvSpPr/>
          <p:nvPr/>
        </p:nvSpPr>
        <p:spPr>
          <a:xfrm>
            <a:off x="393192" y="308244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028" y="3148279"/>
            <a:ext cx="197510" cy="197510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795528" y="2893161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Seamless 0–6 h: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Tier 1 deep-learning nowcast every 10 min for 0–3 h, then Tier 2 AI-corrected NWP for hours 4–6, switching at the measured crossover hour.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20040" y="3701491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Oval 15380"/>
          <p:cNvSpPr/>
          <p:nvPr/>
        </p:nvSpPr>
        <p:spPr>
          <a:xfrm>
            <a:off x="393192" y="3927348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028" y="3993184"/>
            <a:ext cx="197510" cy="19751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95528" y="3738067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What it delivers: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lightning probability per 16 km cell, radar-like storm intensity at 2 km, and LOW / MODERATE / HIGH risk with plain advice for each city.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20040" y="4546396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393192" y="4772253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wifio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028" y="4838090"/>
            <a:ext cx="197510" cy="19751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795528" y="4582972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Built for India’s gaps: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keeps working without radar or a lightning feed; runs today on INSAT-3DR/3DS or GK2A satellite + GFS.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320040" y="5391302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Oval 15388"/>
          <p:cNvSpPr/>
          <p:nvPr/>
        </p:nvSpPr>
        <p:spPr>
          <a:xfrm>
            <a:off x="393192" y="5617159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0" name="Picture 15389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" y="5682996"/>
            <a:ext cx="197510" cy="19751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795528" y="5427878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prototype: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Tadit web app shows an animated India map and hourly city risk, live at </a:t>
            </a:r>
            <a:r>
              <a:rPr sz="93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tadit.pages.dev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041648" y="1591056"/>
            <a:ext cx="4526280" cy="2765488"/>
          </a:xfrm>
          <a:prstGeom prst="roundRect">
            <a:avLst>
              <a:gd name="adj" fmla="val 4000"/>
            </a:avLst>
          </a:prstGeom>
          <a:solidFill>
            <a:srgbClr val="1C2430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Oval 15392"/>
          <p:cNvSpPr/>
          <p:nvPr/>
        </p:nvSpPr>
        <p:spPr>
          <a:xfrm>
            <a:off x="4151376" y="1659636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Oval 15393"/>
          <p:cNvSpPr/>
          <p:nvPr/>
        </p:nvSpPr>
        <p:spPr>
          <a:xfrm>
            <a:off x="4270248" y="165963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Oval 15394"/>
          <p:cNvSpPr/>
          <p:nvPr/>
        </p:nvSpPr>
        <p:spPr>
          <a:xfrm>
            <a:off x="4389120" y="165963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572000" y="1632204"/>
            <a:ext cx="2011680" cy="137160"/>
          </a:xfrm>
          <a:prstGeom prst="roundRect">
            <a:avLst>
              <a:gd name="adj" fmla="val 50000"/>
            </a:avLst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4572000" y="1632204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0">
                <a:solidFill>
                  <a:srgbClr val="C9D3E0"/>
                </a:solidFill>
                <a:latin typeface="Calibri"/>
                <a:ea typeface="Calibri"/>
                <a:cs typeface="Calibri"/>
              </a:rPr>
              <a:t>tadit.pages.dev</a:t>
            </a:r>
          </a:p>
        </p:txBody>
      </p:sp>
      <p:pic>
        <p:nvPicPr>
          <p:cNvPr id="15398" name="Picture 15397" descr="site_bhubaneswar_city.png">
            <a:hlinkClick r:id="rId5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0" y="1810512"/>
            <a:ext cx="4471416" cy="251860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4041648" y="4402264"/>
            <a:ext cx="4526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30" i="1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Working prototype: Bhubaneswar lightning outbreak, 2 Sep 2023, forecast issued 13:30 IST (satellite + GFS, no radar)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4041648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4353687" y="474059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2" name="Picture 1540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523" y="4806429"/>
            <a:ext cx="197510" cy="197510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4041648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4078224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radar, satellite, lightning, NWP</a:t>
            </a:r>
          </a:p>
        </p:txBody>
      </p:sp>
      <p:sp>
        <p:nvSpPr>
          <p:cNvPr id="15405" name="Oval 15404"/>
          <p:cNvSpPr/>
          <p:nvPr/>
        </p:nvSpPr>
        <p:spPr>
          <a:xfrm>
            <a:off x="5022342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5260" y="5038686"/>
            <a:ext cx="117043" cy="117043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5232654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Oval 15407"/>
          <p:cNvSpPr/>
          <p:nvPr/>
        </p:nvSpPr>
        <p:spPr>
          <a:xfrm>
            <a:off x="5544693" y="4740592"/>
            <a:ext cx="329184" cy="32918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9" name="Picture 15408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529" y="4806429"/>
            <a:ext cx="197510" cy="19751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5232654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Fuse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5269230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one multimodal AI model</a:t>
            </a:r>
          </a:p>
        </p:txBody>
      </p:sp>
      <p:sp>
        <p:nvSpPr>
          <p:cNvPr id="15412" name="Oval 15411"/>
          <p:cNvSpPr/>
          <p:nvPr/>
        </p:nvSpPr>
        <p:spPr>
          <a:xfrm>
            <a:off x="6213348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3" name="Picture 15412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6266" y="5038686"/>
            <a:ext cx="117043" cy="117043"/>
          </a:xfrm>
          <a:prstGeom prst="rect">
            <a:avLst/>
          </a:prstGeom>
        </p:spPr>
      </p:pic>
      <p:sp>
        <p:nvSpPr>
          <p:cNvPr id="15414" name="Rounded Rectangle 15413"/>
          <p:cNvSpPr/>
          <p:nvPr/>
        </p:nvSpPr>
        <p:spPr>
          <a:xfrm>
            <a:off x="6423660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6735699" y="4740592"/>
            <a:ext cx="329184" cy="32918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z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1535" y="4806429"/>
            <a:ext cx="197510" cy="197510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6423660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Forecast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6460236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0–6 h, every 10 min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7404354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0" name="Picture 15419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7272" y="5038686"/>
            <a:ext cx="117043" cy="117043"/>
          </a:xfrm>
          <a:prstGeom prst="rect">
            <a:avLst/>
          </a:prstGeom>
        </p:spPr>
      </p:pic>
      <p:sp>
        <p:nvSpPr>
          <p:cNvPr id="15421" name="Rounded Rectangle 15420"/>
          <p:cNvSpPr/>
          <p:nvPr/>
        </p:nvSpPr>
        <p:spPr>
          <a:xfrm>
            <a:off x="7614666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2" name="Oval 15421"/>
          <p:cNvSpPr/>
          <p:nvPr/>
        </p:nvSpPr>
        <p:spPr>
          <a:xfrm>
            <a:off x="7926705" y="4740592"/>
            <a:ext cx="329184" cy="329184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aler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541" y="4806429"/>
            <a:ext cx="197510" cy="197510"/>
          </a:xfrm>
          <a:prstGeom prst="rect">
            <a:avLst/>
          </a:prstGeom>
        </p:spPr>
      </p:pic>
      <p:sp>
        <p:nvSpPr>
          <p:cNvPr id="15424" name="TextBox 15423"/>
          <p:cNvSpPr txBox="1"/>
          <p:nvPr/>
        </p:nvSpPr>
        <p:spPr>
          <a:xfrm>
            <a:off x="7614666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Alert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7651242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city risk + advice</a:t>
            </a:r>
          </a:p>
        </p:txBody>
      </p:sp>
      <p:sp>
        <p:nvSpPr>
          <p:cNvPr id="15426" name="Rounded Rectangle 15425"/>
          <p:cNvSpPr/>
          <p:nvPr/>
        </p:nvSpPr>
        <p:spPr>
          <a:xfrm>
            <a:off x="4041648" y="5609272"/>
            <a:ext cx="4526280" cy="663511"/>
          </a:xfrm>
          <a:prstGeom prst="roundRect">
            <a:avLst>
              <a:gd name="adj" fmla="val 12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7" name="TextBox 15426"/>
          <p:cNvSpPr txBox="1"/>
          <p:nvPr/>
        </p:nvSpPr>
        <p:spPr>
          <a:xfrm>
            <a:off x="411480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0.613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4133087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lightning CSI at hour 1, 1.8× persistence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562356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6 / 6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64184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lead hours beating raw NWP lightning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713232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India</a:t>
            </a:r>
          </a:p>
        </p:txBody>
      </p:sp>
      <p:sp>
        <p:nvSpPr>
          <p:cNvPr id="15432" name="TextBox 15431"/>
          <p:cNvSpPr txBox="1"/>
          <p:nvPr/>
        </p:nvSpPr>
        <p:spPr>
          <a:xfrm>
            <a:off x="715060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beats persistence vs FY-4A satellite lightning</a:t>
            </a:r>
          </a:p>
        </p:txBody>
      </p:sp>
      <p:sp>
        <p:nvSpPr>
          <p:cNvPr id="15433" name="Rounded Rectangle 15432"/>
          <p:cNvSpPr/>
          <p:nvPr/>
        </p:nvSpPr>
        <p:spPr>
          <a:xfrm>
            <a:off x="8677656" y="1591056"/>
            <a:ext cx="3282696" cy="239572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4" name="Rounded Rectangle 15433"/>
          <p:cNvSpPr/>
          <p:nvPr/>
        </p:nvSpPr>
        <p:spPr>
          <a:xfrm>
            <a:off x="8677656" y="1591056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Rectangle 15434"/>
          <p:cNvSpPr/>
          <p:nvPr/>
        </p:nvSpPr>
        <p:spPr>
          <a:xfrm>
            <a:off x="8677656" y="1792224"/>
            <a:ext cx="3282696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targe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6528" y="1655064"/>
            <a:ext cx="219456" cy="219456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9098280" y="15910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It Addresses the Problem</a:t>
            </a:r>
          </a:p>
        </p:txBody>
      </p:sp>
      <p:sp>
        <p:nvSpPr>
          <p:cNvPr id="15438" name="Rounded Rectangle 15437"/>
          <p:cNvSpPr/>
          <p:nvPr/>
        </p:nvSpPr>
        <p:spPr>
          <a:xfrm>
            <a:off x="8769096" y="2011680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9" name="Oval 15438"/>
          <p:cNvSpPr/>
          <p:nvPr/>
        </p:nvSpPr>
        <p:spPr>
          <a:xfrm>
            <a:off x="8842248" y="2084832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0" name="Picture 1543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115555"/>
            <a:ext cx="158008" cy="158008"/>
          </a:xfrm>
          <a:prstGeom prst="rect">
            <a:avLst/>
          </a:prstGeom>
        </p:spPr>
      </p:pic>
      <p:sp>
        <p:nvSpPr>
          <p:cNvPr id="15441" name="TextBox 15440"/>
          <p:cNvSpPr txBox="1"/>
          <p:nvPr/>
        </p:nvSpPr>
        <p:spPr>
          <a:xfrm>
            <a:off x="9116568" y="20756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3 h → 6 h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8860536" y="2295144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IMD’s nowcasts look 3 h ahead. Tadit forecasts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refreshed every 10 min.</a:t>
            </a:r>
          </a:p>
        </p:txBody>
      </p:sp>
      <p:sp>
        <p:nvSpPr>
          <p:cNvPr id="15443" name="Rounded Rectangle 15442"/>
          <p:cNvSpPr/>
          <p:nvPr/>
        </p:nvSpPr>
        <p:spPr>
          <a:xfrm>
            <a:off x="8769096" y="2657856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4" name="Oval 15443"/>
          <p:cNvSpPr/>
          <p:nvPr/>
        </p:nvSpPr>
        <p:spPr>
          <a:xfrm>
            <a:off x="8842248" y="2731008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5" name="Picture 15444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761731"/>
            <a:ext cx="158008" cy="158008"/>
          </a:xfrm>
          <a:prstGeom prst="rect">
            <a:avLst/>
          </a:prstGeom>
        </p:spPr>
      </p:pic>
      <p:sp>
        <p:nvSpPr>
          <p:cNvPr id="15446" name="TextBox 15445"/>
          <p:cNvSpPr txBox="1"/>
          <p:nvPr/>
        </p:nvSpPr>
        <p:spPr>
          <a:xfrm>
            <a:off x="9116568" y="2721864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No radar? Still works</a:t>
            </a:r>
          </a:p>
        </p:txBody>
      </p:sp>
      <p:sp>
        <p:nvSpPr>
          <p:cNvPr id="15447" name="TextBox 15446"/>
          <p:cNvSpPr txBox="1"/>
          <p:nvPr/>
        </p:nvSpPr>
        <p:spPr>
          <a:xfrm>
            <a:off x="8860536" y="2941320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Large parts of India lack radar. Satellite + NWP alone reaches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at hour 1.</a:t>
            </a:r>
          </a:p>
        </p:txBody>
      </p:sp>
      <p:sp>
        <p:nvSpPr>
          <p:cNvPr id="15448" name="Rounded Rectangle 15447"/>
          <p:cNvSpPr/>
          <p:nvPr/>
        </p:nvSpPr>
        <p:spPr>
          <a:xfrm>
            <a:off x="8769096" y="3304032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9" name="Oval 15448"/>
          <p:cNvSpPr/>
          <p:nvPr/>
        </p:nvSpPr>
        <p:spPr>
          <a:xfrm>
            <a:off x="8842248" y="3377184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0" name="Picture 1544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3407907"/>
            <a:ext cx="158008" cy="158008"/>
          </a:xfrm>
          <a:prstGeom prst="rect">
            <a:avLst/>
          </a:prstGeom>
        </p:spPr>
      </p:pic>
      <p:sp>
        <p:nvSpPr>
          <p:cNvPr id="15451" name="TextBox 15450"/>
          <p:cNvSpPr txBox="1"/>
          <p:nvPr/>
        </p:nvSpPr>
        <p:spPr>
          <a:xfrm>
            <a:off x="9116568" y="3368040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From maps to action</a:t>
            </a:r>
          </a:p>
        </p:txBody>
      </p:sp>
      <p:sp>
        <p:nvSpPr>
          <p:cNvPr id="15452" name="TextBox 15451"/>
          <p:cNvSpPr txBox="1"/>
          <p:nvPr/>
        </p:nvSpPr>
        <p:spPr>
          <a:xfrm>
            <a:off x="8860536" y="3587496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City-level hourly risk with advice (“go indoors now”) for officials and the public.</a:t>
            </a:r>
          </a:p>
        </p:txBody>
      </p:sp>
      <p:sp>
        <p:nvSpPr>
          <p:cNvPr id="15453" name="Rounded Rectangle 15452"/>
          <p:cNvSpPr/>
          <p:nvPr/>
        </p:nvSpPr>
        <p:spPr>
          <a:xfrm>
            <a:off x="8677656" y="4078224"/>
            <a:ext cx="3282696" cy="21945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4" name="Rounded Rectangle 15453"/>
          <p:cNvSpPr/>
          <p:nvPr/>
        </p:nvSpPr>
        <p:spPr>
          <a:xfrm>
            <a:off x="8677656" y="4078224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5" name="Rectangle 15454"/>
          <p:cNvSpPr/>
          <p:nvPr/>
        </p:nvSpPr>
        <p:spPr>
          <a:xfrm>
            <a:off x="8677656" y="4279392"/>
            <a:ext cx="3282696" cy="14630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6" name="Picture 15455" descr="gif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6528" y="4142232"/>
            <a:ext cx="219456" cy="219456"/>
          </a:xfrm>
          <a:prstGeom prst="rect">
            <a:avLst/>
          </a:prstGeom>
        </p:spPr>
      </p:pic>
      <p:sp>
        <p:nvSpPr>
          <p:cNvPr id="15457" name="TextBox 15456"/>
          <p:cNvSpPr txBox="1"/>
          <p:nvPr/>
        </p:nvSpPr>
        <p:spPr>
          <a:xfrm>
            <a:off x="9098280" y="4078224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Innovation &amp; Uniqueness</a:t>
            </a:r>
          </a:p>
        </p:txBody>
      </p:sp>
      <p:sp>
        <p:nvSpPr>
          <p:cNvPr id="15458" name="Oval 15457"/>
          <p:cNvSpPr/>
          <p:nvPr/>
        </p:nvSpPr>
        <p:spPr>
          <a:xfrm>
            <a:off x="8769096" y="458800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9" name="TextBox 15458"/>
          <p:cNvSpPr txBox="1"/>
          <p:nvPr/>
        </p:nvSpPr>
        <p:spPr>
          <a:xfrm>
            <a:off x="8769096" y="458800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460" name="TextBox 15459"/>
          <p:cNvSpPr txBox="1"/>
          <p:nvPr/>
        </p:nvSpPr>
        <p:spPr>
          <a:xfrm>
            <a:off x="9098280" y="449884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Mid-fusion U-Net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NWP cross-attention + FiLM: all 18 lead times in one pass.</a:t>
            </a:r>
          </a:p>
        </p:txBody>
      </p:sp>
      <p:sp>
        <p:nvSpPr>
          <p:cNvPr id="15461" name="Oval 15460"/>
          <p:cNvSpPr/>
          <p:nvPr/>
        </p:nvSpPr>
        <p:spPr>
          <a:xfrm>
            <a:off x="8769096" y="502234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2" name="TextBox 15461"/>
          <p:cNvSpPr txBox="1"/>
          <p:nvPr/>
        </p:nvSpPr>
        <p:spPr>
          <a:xfrm>
            <a:off x="8769096" y="502234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463" name="TextBox 15462"/>
          <p:cNvSpPr txBox="1"/>
          <p:nvPr/>
        </p:nvSpPr>
        <p:spPr>
          <a:xfrm>
            <a:off x="9098280" y="493318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robust to any missing sensor, with free drop-a-sensor tests.</a:t>
            </a:r>
          </a:p>
        </p:txBody>
      </p:sp>
      <p:sp>
        <p:nvSpPr>
          <p:cNvPr id="15464" name="Oval 15463"/>
          <p:cNvSpPr/>
          <p:nvPr/>
        </p:nvSpPr>
        <p:spPr>
          <a:xfrm>
            <a:off x="8769096" y="545668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5" name="TextBox 15464"/>
          <p:cNvSpPr txBox="1"/>
          <p:nvPr/>
        </p:nvSpPr>
        <p:spPr>
          <a:xfrm>
            <a:off x="8769096" y="545668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466" name="TextBox 15465"/>
          <p:cNvSpPr txBox="1"/>
          <p:nvPr/>
        </p:nvSpPr>
        <p:spPr>
          <a:xfrm>
            <a:off x="9098280" y="536752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Measured tier crossover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stitches nowcast and NWP into one 0–6 h product.</a:t>
            </a:r>
          </a:p>
        </p:txBody>
      </p:sp>
      <p:sp>
        <p:nvSpPr>
          <p:cNvPr id="15467" name="Oval 15466"/>
          <p:cNvSpPr/>
          <p:nvPr/>
        </p:nvSpPr>
        <p:spPr>
          <a:xfrm>
            <a:off x="8769096" y="589102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8" name="TextBox 15467"/>
          <p:cNvSpPr txBox="1"/>
          <p:nvPr/>
        </p:nvSpPr>
        <p:spPr>
          <a:xfrm>
            <a:off x="8769096" y="589102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5469" name="TextBox 15468"/>
          <p:cNvSpPr txBox="1"/>
          <p:nvPr/>
        </p:nvSpPr>
        <p:spPr>
          <a:xfrm>
            <a:off x="9098280" y="580186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India-adapted in training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(INSAT / GFS-like inputs) with leak-free lightning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11731752" cy="26334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365760" y="115214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System architecture:</a:t>
            </a:r>
            <a:r>
              <a:rPr sz="1000" i="0" b="0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 from raw observations to a 0–6 h lightning forecast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38328" y="14447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 · DATA SOURCES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8328" y="1682496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420623" y="1755648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" y="1817827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728216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5528" y="1911095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IMD DWR · NEXRAD VIL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" y="2194560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20623" y="2267712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s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" y="2329891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240280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5528" y="2423160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INSAT-3DR/3DS · GK2A · GOES IR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8328" y="2706624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420623" y="2779776"/>
            <a:ext cx="310896" cy="310896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841955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52344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E3A000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95528" y="2935224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ILDN / strike feeds · GLM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38328" y="3218688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3291840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3354019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264408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Weather model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447288"/>
            <a:ext cx="137159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GFS 0.25° · HRRR</a:t>
            </a:r>
          </a:p>
        </p:txBody>
      </p:sp>
      <p:pic>
        <p:nvPicPr>
          <p:cNvPr id="17433" name="Picture 1743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424" y="2560320"/>
            <a:ext cx="237744" cy="23774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523744" y="1444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2 · PREPROCESSING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523744" y="1682496"/>
            <a:ext cx="18288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2615184" y="1810512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1832457"/>
            <a:ext cx="138988" cy="13898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2852927" y="1773936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384 km tiles on one map grid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615184" y="2189988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211933"/>
            <a:ext cx="138988" cy="13898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852927" y="2153412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Radar / satellite at 2 km, lightning at 8 km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2615184" y="2569464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591409"/>
            <a:ext cx="138988" cy="13898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852927" y="2532888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Leak-free lightning labels (past 5 min only)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2615184" y="2948939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970885"/>
            <a:ext cx="138988" cy="13898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2852927" y="2912363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NWP only from runs issued before the forecast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2615184" y="3328415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3350361"/>
            <a:ext cx="138988" cy="138988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852927" y="3291839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50% of samples degraded to INSAT &amp; GFS quality</a:t>
            </a:r>
          </a:p>
        </p:txBody>
      </p:sp>
      <p:pic>
        <p:nvPicPr>
          <p:cNvPr id="17451" name="Picture 17450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039112"/>
            <a:ext cx="237744" cy="237744"/>
          </a:xfrm>
          <a:prstGeom prst="rect">
            <a:avLst/>
          </a:prstGeom>
        </p:spPr>
      </p:pic>
      <p:pic>
        <p:nvPicPr>
          <p:cNvPr id="17452" name="Picture 1745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172968"/>
            <a:ext cx="237744" cy="23774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4663440" y="1444752"/>
            <a:ext cx="459028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3 · AI MODELS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663440" y="1682496"/>
            <a:ext cx="4590288" cy="117043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773168" y="1728216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 · Fusion nowcaster</a:t>
            </a:r>
            <a:r>
              <a:rPr sz="950" i="0" b="0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 (0–3 h, every 10 min)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470648" y="174650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60M params · modality dropout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4773168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818888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Per-source encoders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818888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each sensor at native res.</a:t>
            </a:r>
          </a:p>
        </p:txBody>
      </p:sp>
      <p:pic>
        <p:nvPicPr>
          <p:cNvPr id="17460" name="Picture 17459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47003" y="2304288"/>
            <a:ext cx="146304" cy="146304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5911596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5957316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Gated fusion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957316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+ ‘missing’ embeddings</a:t>
            </a:r>
          </a:p>
        </p:txBody>
      </p:sp>
      <p:pic>
        <p:nvPicPr>
          <p:cNvPr id="17464" name="Picture 17463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1" y="2304288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7050023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095743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U-Net + attention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7095743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NWP cross-attn · FiLM</a:t>
            </a:r>
          </a:p>
        </p:txBody>
      </p:sp>
      <p:pic>
        <p:nvPicPr>
          <p:cNvPr id="17468" name="Picture 17467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3859" y="2304288"/>
            <a:ext cx="146304" cy="146304"/>
          </a:xfrm>
          <a:prstGeom prst="rect">
            <a:avLst/>
          </a:prstGeom>
        </p:spPr>
      </p:pic>
      <p:sp>
        <p:nvSpPr>
          <p:cNvPr id="17469" name="Rounded Rectangle 17468"/>
          <p:cNvSpPr/>
          <p:nvPr/>
        </p:nvSpPr>
        <p:spPr>
          <a:xfrm>
            <a:off x="8188451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8234171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18 lead times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34171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VIL 2 km · lightning 8 km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663440" y="2944368"/>
            <a:ext cx="4590288" cy="731520"/>
          </a:xfrm>
          <a:prstGeom prst="roundRect">
            <a:avLst>
              <a:gd name="adj" fmla="val 10000"/>
            </a:avLst>
          </a:prstGeom>
          <a:solidFill>
            <a:srgbClr val="E7F5F5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4773168" y="2990088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 · AI-corrected NWP</a:t>
            </a:r>
            <a:r>
              <a:rPr sz="950" i="0" b="0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 (lead hours 1–6)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4773168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773168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GFS / HRRR forecast fields</a:t>
            </a:r>
          </a:p>
        </p:txBody>
      </p:sp>
      <p:pic>
        <p:nvPicPr>
          <p:cNvPr id="17476" name="Picture 17475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79" y="3346704"/>
            <a:ext cx="146304" cy="146304"/>
          </a:xfrm>
          <a:prstGeom prst="rect">
            <a:avLst/>
          </a:prstGeom>
        </p:spPr>
      </p:pic>
      <p:sp>
        <p:nvSpPr>
          <p:cNvPr id="17477" name="Rounded Rectangle 17476"/>
          <p:cNvSpPr/>
          <p:nvPr/>
        </p:nvSpPr>
        <p:spPr>
          <a:xfrm>
            <a:off x="6291071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291071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Compact U-Net</a:t>
            </a:r>
          </a:p>
        </p:txBody>
      </p:sp>
      <p:pic>
        <p:nvPicPr>
          <p:cNvPr id="17479" name="Picture 17478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4383" y="3346704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7808975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808975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 + VIL, 16 km</a:t>
            </a:r>
          </a:p>
        </p:txBody>
      </p:sp>
      <p:pic>
        <p:nvPicPr>
          <p:cNvPr id="17482" name="Picture 1748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2112264"/>
            <a:ext cx="237744" cy="237744"/>
          </a:xfrm>
          <a:prstGeom prst="rect">
            <a:avLst/>
          </a:prstGeom>
        </p:spPr>
      </p:pic>
      <p:pic>
        <p:nvPicPr>
          <p:cNvPr id="17483" name="Picture 1748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3099816"/>
            <a:ext cx="237744" cy="237744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564624" y="14447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4 · SEAMLESS OUTPUT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564624" y="1682496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9656063" y="1719072"/>
            <a:ext cx="2103120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Switch at hour 3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Tier 1 for hours 1–3, Tier 2 for 4–6: the crossover measured on held-out storms.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9564624" y="259689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9619488" y="264261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990" y="2682118"/>
            <a:ext cx="140451" cy="140451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893807" y="25968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Probability maps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9564624" y="296265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Oval 17491"/>
          <p:cNvSpPr/>
          <p:nvPr/>
        </p:nvSpPr>
        <p:spPr>
          <a:xfrm>
            <a:off x="9619488" y="300837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990" y="3047878"/>
            <a:ext cx="140451" cy="140451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9893807" y="296265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JSON: hourly risk + sources used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9564624" y="3328415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Oval 17495"/>
          <p:cNvSpPr/>
          <p:nvPr/>
        </p:nvSpPr>
        <p:spPr>
          <a:xfrm>
            <a:off x="9619488" y="337413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user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8990" y="3413638"/>
            <a:ext cx="140451" cy="140451"/>
          </a:xfrm>
          <a:prstGeom prst="rect">
            <a:avLst/>
          </a:prstGeom>
        </p:spPr>
      </p:pic>
      <p:sp>
        <p:nvSpPr>
          <p:cNvPr id="17498" name="TextBox 17497"/>
          <p:cNvSpPr txBox="1"/>
          <p:nvPr/>
        </p:nvSpPr>
        <p:spPr>
          <a:xfrm>
            <a:off x="9893807" y="3328415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Tadit web app &amp; alerts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28600" y="3822191"/>
            <a:ext cx="3749039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0" name="Rounded Rectangle 17499"/>
          <p:cNvSpPr/>
          <p:nvPr/>
        </p:nvSpPr>
        <p:spPr>
          <a:xfrm>
            <a:off x="228600" y="3822191"/>
            <a:ext cx="3749039" cy="292608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Rectangle 17500"/>
          <p:cNvSpPr/>
          <p:nvPr/>
        </p:nvSpPr>
        <p:spPr>
          <a:xfrm>
            <a:off x="228600" y="3986783"/>
            <a:ext cx="37490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338328" y="3822191"/>
            <a:ext cx="35661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Methodology</a:t>
            </a:r>
          </a:p>
        </p:txBody>
      </p:sp>
      <p:sp>
        <p:nvSpPr>
          <p:cNvPr id="17503" name="Oval 17502"/>
          <p:cNvSpPr/>
          <p:nvPr/>
        </p:nvSpPr>
        <p:spPr>
          <a:xfrm>
            <a:off x="329184" y="4230014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databas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705" y="4288536"/>
            <a:ext cx="175564" cy="17556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04088" y="4169663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Data: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3,000 real US storm events (SEVIR) + HRRR; split by date, so test storms are unseen.</a:t>
            </a:r>
          </a:p>
        </p:txBody>
      </p:sp>
      <p:sp>
        <p:nvSpPr>
          <p:cNvPr id="17506" name="Oval 17505"/>
          <p:cNvSpPr/>
          <p:nvPr/>
        </p:nvSpPr>
        <p:spPr>
          <a:xfrm>
            <a:off x="329184" y="4643323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cpu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7705" y="4701844"/>
            <a:ext cx="175564" cy="175564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704088" y="4582972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Intensity-weighted radar loss + focal lightning loss; modality dropout; one night on an RTX 4060 Ti.</a:t>
            </a:r>
          </a:p>
        </p:txBody>
      </p:sp>
      <p:sp>
        <p:nvSpPr>
          <p:cNvPr id="17509" name="Oval 17508"/>
          <p:cNvSpPr/>
          <p:nvPr/>
        </p:nvSpPr>
        <p:spPr>
          <a:xfrm>
            <a:off x="329184" y="5056631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sear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705" y="5115153"/>
            <a:ext cx="175564" cy="17556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04088" y="4996281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Evaluate: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/ POD / FAR per lead hour vs persistence and raw NWP; drop-a-sensor tests.</a:t>
            </a:r>
          </a:p>
        </p:txBody>
      </p:sp>
      <p:sp>
        <p:nvSpPr>
          <p:cNvPr id="17512" name="Oval 17511"/>
          <p:cNvSpPr/>
          <p:nvPr/>
        </p:nvSpPr>
        <p:spPr>
          <a:xfrm>
            <a:off x="329184" y="5469940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3" name="Picture 17512" descr="p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705" y="5528462"/>
            <a:ext cx="175564" cy="175564"/>
          </a:xfrm>
          <a:prstGeom prst="rect">
            <a:avLst/>
          </a:prstGeom>
        </p:spPr>
      </p:pic>
      <p:sp>
        <p:nvSpPr>
          <p:cNvPr id="17514" name="TextBox 17513"/>
          <p:cNvSpPr txBox="1"/>
          <p:nvPr/>
        </p:nvSpPr>
        <p:spPr>
          <a:xfrm>
            <a:off x="704088" y="5409590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 on INSAT / GK2A + GFS; checked against FY-4A satellite lightning.</a:t>
            </a:r>
          </a:p>
        </p:txBody>
      </p:sp>
      <p:sp>
        <p:nvSpPr>
          <p:cNvPr id="17515" name="Oval 17514"/>
          <p:cNvSpPr/>
          <p:nvPr/>
        </p:nvSpPr>
        <p:spPr>
          <a:xfrm>
            <a:off x="329184" y="5883249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clou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705" y="5941771"/>
            <a:ext cx="175564" cy="17556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04088" y="5822899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Serve: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Maps + JSON exported to a static web app on Cloudflare Pages.</a:t>
            </a:r>
          </a:p>
        </p:txBody>
      </p:sp>
      <p:sp>
        <p:nvSpPr>
          <p:cNvPr id="17518" name="Rounded Rectangle 17517"/>
          <p:cNvSpPr/>
          <p:nvPr/>
        </p:nvSpPr>
        <p:spPr>
          <a:xfrm>
            <a:off x="4087368" y="3822191"/>
            <a:ext cx="4480560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4087368" y="3822191"/>
            <a:ext cx="4480560" cy="292608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ectangle 17519"/>
          <p:cNvSpPr/>
          <p:nvPr/>
        </p:nvSpPr>
        <p:spPr>
          <a:xfrm>
            <a:off x="4087368" y="3986783"/>
            <a:ext cx="4480560" cy="128016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4197096" y="3822191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Forecasts vs Reality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4197096" y="4169663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Held-out US storm: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forecast lightning chance (shading) vs observed flashes (o)</a:t>
            </a:r>
          </a:p>
        </p:txBody>
      </p:sp>
      <p:pic>
        <p:nvPicPr>
          <p:cNvPr id="17523" name="Picture 17522" descr="fig5_lightning_r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690771" y="4334256"/>
            <a:ext cx="3273752" cy="822960"/>
          </a:xfrm>
          <a:prstGeom prst="rect">
            <a:avLst/>
          </a:prstGeom>
        </p:spPr>
      </p:pic>
      <p:sp>
        <p:nvSpPr>
          <p:cNvPr id="17524" name="TextBox 17523"/>
          <p:cNvSpPr txBox="1"/>
          <p:nvPr/>
        </p:nvSpPr>
        <p:spPr>
          <a:xfrm>
            <a:off x="4197096" y="5212080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India, Bhubaneswar 2 Sep 2023: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hours 1–3 from satellite + GFS only (★ city)</a:t>
            </a:r>
          </a:p>
        </p:txBody>
      </p:sp>
      <p:pic>
        <p:nvPicPr>
          <p:cNvPr id="17525" name="Picture 17524" descr="fig6_bbsr_h12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022934" y="5376672"/>
            <a:ext cx="2609426" cy="841248"/>
          </a:xfrm>
          <a:prstGeom prst="rect">
            <a:avLst/>
          </a:prstGeom>
        </p:spPr>
      </p:pic>
      <p:sp>
        <p:nvSpPr>
          <p:cNvPr id="17526" name="Rounded Rectangle 17525"/>
          <p:cNvSpPr/>
          <p:nvPr/>
        </p:nvSpPr>
        <p:spPr>
          <a:xfrm>
            <a:off x="8677656" y="3822191"/>
            <a:ext cx="3282696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7" name="Rounded Rectangle 17526"/>
          <p:cNvSpPr/>
          <p:nvPr/>
        </p:nvSpPr>
        <p:spPr>
          <a:xfrm>
            <a:off x="8677656" y="3822191"/>
            <a:ext cx="3282696" cy="292608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8" name="Rectangle 17527"/>
          <p:cNvSpPr/>
          <p:nvPr/>
        </p:nvSpPr>
        <p:spPr>
          <a:xfrm>
            <a:off x="8677656" y="3986783"/>
            <a:ext cx="328269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8787384" y="3822191"/>
            <a:ext cx="30998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Technology Stack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8787384" y="4206240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AI / ML</a:t>
            </a:r>
          </a:p>
        </p:txBody>
      </p:sp>
      <p:sp>
        <p:nvSpPr>
          <p:cNvPr id="17531" name="Rounded Rectangle 17530"/>
          <p:cNvSpPr/>
          <p:nvPr/>
        </p:nvSpPr>
        <p:spPr>
          <a:xfrm>
            <a:off x="8787384" y="4370831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2" name="TextBox 17531"/>
          <p:cNvSpPr txBox="1"/>
          <p:nvPr/>
        </p:nvSpPr>
        <p:spPr>
          <a:xfrm>
            <a:off x="8787384" y="4370831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17533" name="Rounded Rectangle 17532"/>
          <p:cNvSpPr/>
          <p:nvPr/>
        </p:nvSpPr>
        <p:spPr>
          <a:xfrm>
            <a:off x="9295790" y="4370831"/>
            <a:ext cx="504748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4" name="TextBox 17533"/>
          <p:cNvSpPr txBox="1"/>
          <p:nvPr/>
        </p:nvSpPr>
        <p:spPr>
          <a:xfrm>
            <a:off x="9295790" y="4370831"/>
            <a:ext cx="504748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PyTorch</a:t>
            </a:r>
          </a:p>
        </p:txBody>
      </p:sp>
      <p:sp>
        <p:nvSpPr>
          <p:cNvPr id="17535" name="Rounded Rectangle 17534"/>
          <p:cNvSpPr/>
          <p:nvPr/>
        </p:nvSpPr>
        <p:spPr>
          <a:xfrm>
            <a:off x="9855403" y="4370831"/>
            <a:ext cx="402336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6" name="TextBox 17535"/>
          <p:cNvSpPr txBox="1"/>
          <p:nvPr/>
        </p:nvSpPr>
        <p:spPr>
          <a:xfrm>
            <a:off x="9855403" y="4370831"/>
            <a:ext cx="40233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NumPy</a:t>
            </a:r>
          </a:p>
        </p:txBody>
      </p:sp>
      <p:sp>
        <p:nvSpPr>
          <p:cNvPr id="17537" name="Rounded Rectangle 17536"/>
          <p:cNvSpPr/>
          <p:nvPr/>
        </p:nvSpPr>
        <p:spPr>
          <a:xfrm>
            <a:off x="10312603" y="4370831"/>
            <a:ext cx="1170432" cy="192024"/>
          </a:xfrm>
          <a:prstGeom prst="roundRect">
            <a:avLst>
              <a:gd name="adj" fmla="val 50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8" name="TextBox 17537"/>
          <p:cNvSpPr txBox="1"/>
          <p:nvPr/>
        </p:nvSpPr>
        <p:spPr>
          <a:xfrm>
            <a:off x="10312603" y="4370831"/>
            <a:ext cx="117043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bf16 + torch.compile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8787384" y="4636007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8787384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8787384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xarray</a:t>
            </a:r>
          </a:p>
        </p:txBody>
      </p:sp>
      <p:sp>
        <p:nvSpPr>
          <p:cNvPr id="17542" name="Rounded Rectangle 17541"/>
          <p:cNvSpPr/>
          <p:nvPr/>
        </p:nvSpPr>
        <p:spPr>
          <a:xfrm>
            <a:off x="9295790" y="4800599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3" name="TextBox 17542"/>
          <p:cNvSpPr txBox="1"/>
          <p:nvPr/>
        </p:nvSpPr>
        <p:spPr>
          <a:xfrm>
            <a:off x="9295790" y="4800599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h5py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9701784" y="4800599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9701784" y="4800599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s3fs</a:t>
            </a:r>
          </a:p>
        </p:txBody>
      </p:sp>
      <p:sp>
        <p:nvSpPr>
          <p:cNvPr id="17546" name="Rounded Rectangle 17545"/>
          <p:cNvSpPr/>
          <p:nvPr/>
        </p:nvSpPr>
        <p:spPr>
          <a:xfrm>
            <a:off x="10107777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TextBox 17546"/>
          <p:cNvSpPr txBox="1"/>
          <p:nvPr/>
        </p:nvSpPr>
        <p:spPr>
          <a:xfrm>
            <a:off x="10107777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Herbie</a:t>
            </a:r>
          </a:p>
        </p:txBody>
      </p:sp>
      <p:sp>
        <p:nvSpPr>
          <p:cNvPr id="17548" name="Rounded Rectangle 17547"/>
          <p:cNvSpPr/>
          <p:nvPr/>
        </p:nvSpPr>
        <p:spPr>
          <a:xfrm>
            <a:off x="10616184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9" name="TextBox 17548"/>
          <p:cNvSpPr txBox="1"/>
          <p:nvPr/>
        </p:nvSpPr>
        <p:spPr>
          <a:xfrm>
            <a:off x="10616184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pyproj</a:t>
            </a:r>
          </a:p>
        </p:txBody>
      </p:sp>
      <p:sp>
        <p:nvSpPr>
          <p:cNvPr id="17550" name="Rounded Rectangle 17549"/>
          <p:cNvSpPr/>
          <p:nvPr/>
        </p:nvSpPr>
        <p:spPr>
          <a:xfrm>
            <a:off x="11124590" y="4800599"/>
            <a:ext cx="453542" cy="192024"/>
          </a:xfrm>
          <a:prstGeom prst="roundRect">
            <a:avLst>
              <a:gd name="adj" fmla="val 50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1" name="TextBox 17550"/>
          <p:cNvSpPr txBox="1"/>
          <p:nvPr/>
        </p:nvSpPr>
        <p:spPr>
          <a:xfrm>
            <a:off x="11124590" y="4800599"/>
            <a:ext cx="453542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cfgrib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8787384" y="5065775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7553" name="Rounded Rectangle 17552"/>
          <p:cNvSpPr/>
          <p:nvPr/>
        </p:nvSpPr>
        <p:spPr>
          <a:xfrm>
            <a:off x="8787384" y="5230367"/>
            <a:ext cx="402336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4" name="TextBox 17553"/>
          <p:cNvSpPr txBox="1"/>
          <p:nvPr/>
        </p:nvSpPr>
        <p:spPr>
          <a:xfrm>
            <a:off x="8787384" y="5230367"/>
            <a:ext cx="40233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React</a:t>
            </a:r>
          </a:p>
        </p:txBody>
      </p:sp>
      <p:sp>
        <p:nvSpPr>
          <p:cNvPr id="17555" name="Rounded Rectangle 17554"/>
          <p:cNvSpPr/>
          <p:nvPr/>
        </p:nvSpPr>
        <p:spPr>
          <a:xfrm>
            <a:off x="9244584" y="5230367"/>
            <a:ext cx="658368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6" name="TextBox 17555"/>
          <p:cNvSpPr txBox="1"/>
          <p:nvPr/>
        </p:nvSpPr>
        <p:spPr>
          <a:xfrm>
            <a:off x="9244584" y="5230367"/>
            <a:ext cx="658368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9957815" y="5230367"/>
            <a:ext cx="351129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9957815" y="5230367"/>
            <a:ext cx="35112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17559" name="Rounded Rectangle 17558"/>
          <p:cNvSpPr/>
          <p:nvPr/>
        </p:nvSpPr>
        <p:spPr>
          <a:xfrm>
            <a:off x="10363809" y="5230367"/>
            <a:ext cx="709574" cy="192024"/>
          </a:xfrm>
          <a:prstGeom prst="roundRect">
            <a:avLst>
              <a:gd name="adj" fmla="val 50000"/>
            </a:avLst>
          </a:prstGeom>
          <a:solidFill>
            <a:srgbClr val="ECE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0" name="TextBox 17559"/>
          <p:cNvSpPr txBox="1"/>
          <p:nvPr/>
        </p:nvSpPr>
        <p:spPr>
          <a:xfrm>
            <a:off x="10363809" y="5230367"/>
            <a:ext cx="709574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MapLibre GL</a:t>
            </a:r>
          </a:p>
        </p:txBody>
      </p:sp>
      <p:sp>
        <p:nvSpPr>
          <p:cNvPr id="17561" name="TextBox 17560"/>
          <p:cNvSpPr txBox="1"/>
          <p:nvPr/>
        </p:nvSpPr>
        <p:spPr>
          <a:xfrm>
            <a:off x="8787384" y="5495543"/>
            <a:ext cx="3099815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INFRA</a:t>
            </a:r>
          </a:p>
        </p:txBody>
      </p:sp>
      <p:sp>
        <p:nvSpPr>
          <p:cNvPr id="17562" name="Rounded Rectangle 17561"/>
          <p:cNvSpPr/>
          <p:nvPr/>
        </p:nvSpPr>
        <p:spPr>
          <a:xfrm>
            <a:off x="8787384" y="5660135"/>
            <a:ext cx="811987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3" name="TextBox 17562"/>
          <p:cNvSpPr txBox="1"/>
          <p:nvPr/>
        </p:nvSpPr>
        <p:spPr>
          <a:xfrm>
            <a:off x="8787384" y="5660135"/>
            <a:ext cx="811987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AWS Open Data</a:t>
            </a:r>
          </a:p>
        </p:txBody>
      </p:sp>
      <p:sp>
        <p:nvSpPr>
          <p:cNvPr id="17564" name="Rounded Rectangle 17563"/>
          <p:cNvSpPr/>
          <p:nvPr/>
        </p:nvSpPr>
        <p:spPr>
          <a:xfrm>
            <a:off x="9654235" y="5660135"/>
            <a:ext cx="965606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5" name="TextBox 17564"/>
          <p:cNvSpPr txBox="1"/>
          <p:nvPr/>
        </p:nvSpPr>
        <p:spPr>
          <a:xfrm>
            <a:off x="9654235" y="5660135"/>
            <a:ext cx="965606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Cloudflare Pages</a:t>
            </a:r>
          </a:p>
        </p:txBody>
      </p:sp>
      <p:sp>
        <p:nvSpPr>
          <p:cNvPr id="17566" name="Rounded Rectangle 17565"/>
          <p:cNvSpPr/>
          <p:nvPr/>
        </p:nvSpPr>
        <p:spPr>
          <a:xfrm>
            <a:off x="10674705" y="5660135"/>
            <a:ext cx="760780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7" name="TextBox 17566"/>
          <p:cNvSpPr txBox="1"/>
          <p:nvPr/>
        </p:nvSpPr>
        <p:spPr>
          <a:xfrm>
            <a:off x="10674705" y="5660135"/>
            <a:ext cx="760780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Hugging Face</a:t>
            </a:r>
          </a:p>
        </p:txBody>
      </p:sp>
      <p:sp>
        <p:nvSpPr>
          <p:cNvPr id="17568" name="Rounded Rectangle 17567"/>
          <p:cNvSpPr/>
          <p:nvPr/>
        </p:nvSpPr>
        <p:spPr>
          <a:xfrm>
            <a:off x="8787384" y="5879591"/>
            <a:ext cx="1068019" cy="192024"/>
          </a:xfrm>
          <a:prstGeom prst="roundRect">
            <a:avLst>
              <a:gd name="adj" fmla="val 50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69" name="TextBox 17568"/>
          <p:cNvSpPr txBox="1"/>
          <p:nvPr/>
        </p:nvSpPr>
        <p:spPr>
          <a:xfrm>
            <a:off x="8787384" y="5879591"/>
            <a:ext cx="1068019" cy="1920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2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RTX 4060 Ti / 5090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371600"/>
            <a:ext cx="3837431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887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0408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Technical 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0408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Built, trained and tested today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320040" y="1632204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" y="1687068"/>
            <a:ext cx="164592" cy="16459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6751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two-tier AI: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60M-parameter fusion U-Net for 0–3 h plus an NWP post-processor for 3–6 h, trained on 3,000 real storm events.</a:t>
            </a:r>
          </a:p>
        </p:txBody>
      </p:sp>
      <p:sp>
        <p:nvSpPr>
          <p:cNvPr id="2" name="Freeform 1"/>
          <p:cNvSpPr/>
          <p:nvPr/>
        </p:nvSpPr>
        <p:spPr>
          <a:xfrm>
            <a:off x="66751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20040" y="2007108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2061972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6751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Fast: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full 0–6 h forecast for an Indian city in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about 1 minute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data download included.</a:t>
            </a:r>
          </a:p>
        </p:txBody>
      </p:sp>
      <p:sp>
        <p:nvSpPr>
          <p:cNvPr id="3" name="Freeform 2"/>
          <p:cNvSpPr/>
          <p:nvPr/>
        </p:nvSpPr>
        <p:spPr>
          <a:xfrm>
            <a:off x="66751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320040" y="2382012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2436876"/>
            <a:ext cx="164592" cy="16459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751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trained overnight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one 16 GB consumer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the deployed model file is 120 MB.</a:t>
            </a:r>
          </a:p>
        </p:txBody>
      </p:sp>
      <p:sp>
        <p:nvSpPr>
          <p:cNvPr id="4" name="Freeform 3"/>
          <p:cNvSpPr/>
          <p:nvPr/>
        </p:nvSpPr>
        <p:spPr>
          <a:xfrm>
            <a:off x="66751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320040" y="2756916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" y="2811780"/>
            <a:ext cx="164592" cy="164592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66751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Reliable build: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open-source Python / PyTorch stack, covered by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38 automated tests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7576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7576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4175760" y="1371600"/>
            <a:ext cx="3837431" cy="164592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pl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775" y="1188720"/>
            <a:ext cx="256032" cy="256032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4651247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Operational Feasibility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651247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Runs on India’s own data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4267199" y="1632204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s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64" y="1687068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61467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Indian data readers ready: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INSAT-3DR/3DS (MOSDAC), IMD Doppler radar, GFS and lightning strike feeds.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61467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4267199" y="2007108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064" y="2061972"/>
            <a:ext cx="164592" cy="164592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61467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Verified on real files: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our INSAT reader matches the GK2A satellite on the same scene (r = 0.87).</a:t>
            </a:r>
          </a:p>
        </p:txBody>
      </p:sp>
      <p:sp>
        <p:nvSpPr>
          <p:cNvPr id="8" name="Freeform 7"/>
          <p:cNvSpPr/>
          <p:nvPr/>
        </p:nvSpPr>
        <p:spPr>
          <a:xfrm>
            <a:off x="461467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Oval 17439"/>
          <p:cNvSpPr/>
          <p:nvPr/>
        </p:nvSpPr>
        <p:spPr>
          <a:xfrm>
            <a:off x="4267199" y="2382012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064" y="2436876"/>
            <a:ext cx="164592" cy="16459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461467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Works with gaps: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whichever sources are live, and every output lists what it used.</a:t>
            </a:r>
          </a:p>
        </p:txBody>
      </p:sp>
      <p:sp>
        <p:nvSpPr>
          <p:cNvPr id="9" name="Freeform 8"/>
          <p:cNvSpPr/>
          <p:nvPr/>
        </p:nvSpPr>
        <p:spPr>
          <a:xfrm>
            <a:off x="461467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267199" y="2756916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2064" y="2811780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461467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Easy to plug in: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standard map + JSON outputs for IMD’s nowcast portal and alert apps; the web viewer needs no backend.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12292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ounded Rectangle 17446"/>
          <p:cNvSpPr/>
          <p:nvPr/>
        </p:nvSpPr>
        <p:spPr>
          <a:xfrm>
            <a:off x="812292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8122920" y="1371600"/>
            <a:ext cx="3837431" cy="16459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0936" y="118872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59840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 Viability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9840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Low cost, scalable, policy-aligned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8214359" y="1632204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data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9224" y="1687068"/>
            <a:ext cx="164592" cy="164592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56183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hardware: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reuses radar, satellite and NWP data IMD already collects; open GK2A / GFS as backup.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61832" y="1956816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Oval 17454"/>
          <p:cNvSpPr/>
          <p:nvPr/>
        </p:nvSpPr>
        <p:spPr>
          <a:xfrm>
            <a:off x="8214359" y="2007108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clou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9224" y="2061972"/>
            <a:ext cx="164592" cy="16459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56183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Near-zero serving cost: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forecasts are static files served from a free CDN (Cloudflare Pages).</a:t>
            </a:r>
          </a:p>
        </p:txBody>
      </p:sp>
      <p:sp>
        <p:nvSpPr>
          <p:cNvPr id="14" name="Freeform 13"/>
          <p:cNvSpPr/>
          <p:nvPr/>
        </p:nvSpPr>
        <p:spPr>
          <a:xfrm>
            <a:off x="8561832" y="2331720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8214359" y="2382012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tren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9224" y="2436876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856183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Scales simply: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≈30 tiles of 384 km cover India; at ~1 min per tile, one GPU refreshes the whole country in about 30 min.</a:t>
            </a:r>
          </a:p>
        </p:txBody>
      </p:sp>
      <p:sp>
        <p:nvSpPr>
          <p:cNvPr id="15" name="Freeform 14"/>
          <p:cNvSpPr/>
          <p:nvPr/>
        </p:nvSpPr>
        <p:spPr>
          <a:xfrm>
            <a:off x="8561832" y="2706624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Oval 17460"/>
          <p:cNvSpPr/>
          <p:nvPr/>
        </p:nvSpPr>
        <p:spPr>
          <a:xfrm>
            <a:off x="8214359" y="2756916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andmar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9224" y="2811780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56183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Policy fit: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supports MoES’s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(₹2,000 cr) goals of more frequent nowcasts and no undetected weather events.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228600" y="3236976"/>
            <a:ext cx="5285232" cy="29260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ale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6616" y="3282696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640080" y="3236976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Potential Challenges &amp; Risks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428232" y="3236976"/>
            <a:ext cx="5532120" cy="292608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282696"/>
            <a:ext cx="201168" cy="201168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839712" y="323697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Strategies to Overcome Them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05272" y="323697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arro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61304" y="3273552"/>
            <a:ext cx="219456" cy="219456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228600" y="3602736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01752" y="3685031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30175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85800" y="362102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Limited access to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archives (ILLN / ILDN) and radar volumes are not openly available, so early findings may be misleading.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5513832" y="3831335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Oval 17475"/>
          <p:cNvSpPr/>
          <p:nvPr/>
        </p:nvSpPr>
        <p:spPr>
          <a:xfrm>
            <a:off x="5797296" y="3657599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searc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70265" y="3730569"/>
            <a:ext cx="201533" cy="201533"/>
          </a:xfrm>
          <a:prstGeom prst="rect">
            <a:avLst/>
          </a:prstGeom>
        </p:spPr>
      </p:pic>
      <p:sp>
        <p:nvSpPr>
          <p:cNvPr id="17478" name="Rounded Rectangle 17477"/>
          <p:cNvSpPr/>
          <p:nvPr/>
        </p:nvSpPr>
        <p:spPr>
          <a:xfrm>
            <a:off x="6428232" y="3602736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6537960" y="36210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Gets better as validated data arrives: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ILDN data is requested and every output carries an honest label.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As the model gets validated Indian data, it recalibrates and becomes more accurate.</a:t>
            </a:r>
          </a:p>
        </p:txBody>
      </p:sp>
      <p:sp>
        <p:nvSpPr>
          <p:cNvPr id="17480" name="Oval 17479"/>
          <p:cNvSpPr/>
          <p:nvPr/>
        </p:nvSpPr>
        <p:spPr>
          <a:xfrm>
            <a:off x="11594592" y="3685031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1159459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228600" y="4101084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Oval 17482"/>
          <p:cNvSpPr/>
          <p:nvPr/>
        </p:nvSpPr>
        <p:spPr>
          <a:xfrm>
            <a:off x="301752" y="4183380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30175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685800" y="411937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Trained on US storms, used in India: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monsoon storms, terrain and INSAT’s slower scans differ from the US training data.</a:t>
            </a:r>
          </a:p>
        </p:txBody>
      </p:sp>
      <p:sp>
        <p:nvSpPr>
          <p:cNvPr id="17" name="Freeform 16"/>
          <p:cNvSpPr/>
          <p:nvPr/>
        </p:nvSpPr>
        <p:spPr>
          <a:xfrm>
            <a:off x="5513832" y="4329684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Oval 17485"/>
          <p:cNvSpPr/>
          <p:nvPr/>
        </p:nvSpPr>
        <p:spPr>
          <a:xfrm>
            <a:off x="5797296" y="4155948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7" name="Picture 17486" descr="glob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70265" y="4228917"/>
            <a:ext cx="201533" cy="201533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6428232" y="4101084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6537960" y="411937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India-mode training: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half of all samples are degraded to INSAT (4 km, 15–30 min scans) and GFS (~24 km) quality; fine-tune on Indian cases as they come in.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11594592" y="4183380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1159459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28600" y="4599432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Oval 17492"/>
          <p:cNvSpPr/>
          <p:nvPr/>
        </p:nvSpPr>
        <p:spPr>
          <a:xfrm>
            <a:off x="301752" y="4681728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30175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685800" y="461772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Sparse radar and sensor outages: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radar does not cover all of India, and feeds drop out during storms.</a:t>
            </a:r>
          </a:p>
        </p:txBody>
      </p:sp>
      <p:sp>
        <p:nvSpPr>
          <p:cNvPr id="18" name="Freeform 17"/>
          <p:cNvSpPr/>
          <p:nvPr/>
        </p:nvSpPr>
        <p:spPr>
          <a:xfrm>
            <a:off x="5513832" y="4828032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6" name="Oval 17495"/>
          <p:cNvSpPr/>
          <p:nvPr/>
        </p:nvSpPr>
        <p:spPr>
          <a:xfrm>
            <a:off x="5797296" y="4654296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265" y="4727265"/>
            <a:ext cx="201533" cy="201533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6428232" y="4599432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6537960" y="46177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model runs on whatever is live. Without radar, hour-1 CSI only dips from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0.613 to 0.592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satellite + NWP alone still scores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0" name="Oval 17499"/>
          <p:cNvSpPr/>
          <p:nvPr/>
        </p:nvSpPr>
        <p:spPr>
          <a:xfrm>
            <a:off x="11594592" y="4681728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1159459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228600" y="5097780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301752" y="5180076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30175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685800" y="5116068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Calibration and false alarms: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probabilities are tuned to US storm frequency, not Indian climate.</a:t>
            </a:r>
          </a:p>
        </p:txBody>
      </p:sp>
      <p:sp>
        <p:nvSpPr>
          <p:cNvPr id="19" name="Freeform 18"/>
          <p:cNvSpPr/>
          <p:nvPr/>
        </p:nvSpPr>
        <p:spPr>
          <a:xfrm>
            <a:off x="5513832" y="53263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797296" y="5152644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slide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0265" y="5225613"/>
            <a:ext cx="201533" cy="201533"/>
          </a:xfrm>
          <a:prstGeom prst="rect">
            <a:avLst/>
          </a:prstGeom>
        </p:spPr>
      </p:pic>
      <p:sp>
        <p:nvSpPr>
          <p:cNvPr id="17508" name="Rounded Rectangle 17507"/>
          <p:cNvSpPr/>
          <p:nvPr/>
        </p:nvSpPr>
        <p:spPr>
          <a:xfrm>
            <a:off x="6428232" y="5097780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6537960" y="511606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Regional recalibration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IMD, and alerts issued as risk levels, not raw numbers. On a dry Delhi day the forecast stayed at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0.04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0" name="Oval 17509"/>
          <p:cNvSpPr/>
          <p:nvPr/>
        </p:nvSpPr>
        <p:spPr>
          <a:xfrm>
            <a:off x="11594592" y="5180076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1159459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228600" y="5596128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301752" y="5678424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TextBox 17513"/>
          <p:cNvSpPr txBox="1"/>
          <p:nvPr/>
        </p:nvSpPr>
        <p:spPr>
          <a:xfrm>
            <a:off x="30175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15" name="TextBox 17514"/>
          <p:cNvSpPr txBox="1"/>
          <p:nvPr/>
        </p:nvSpPr>
        <p:spPr>
          <a:xfrm>
            <a:off x="685800" y="561441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Adoption into IMD operations: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new tool must fit forecasters’ workflows and existing alert channels.</a:t>
            </a:r>
          </a:p>
        </p:txBody>
      </p:sp>
      <p:sp>
        <p:nvSpPr>
          <p:cNvPr id="20" name="Freeform 19"/>
          <p:cNvSpPr/>
          <p:nvPr/>
        </p:nvSpPr>
        <p:spPr>
          <a:xfrm>
            <a:off x="5513832" y="5824728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797296" y="5650992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7" name="Picture 17516" descr="rocke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70265" y="5723961"/>
            <a:ext cx="201533" cy="201533"/>
          </a:xfrm>
          <a:prstGeom prst="rect">
            <a:avLst/>
          </a:prstGeom>
        </p:spPr>
      </p:pic>
      <p:sp>
        <p:nvSpPr>
          <p:cNvPr id="17518" name="Rounded Rectangle 17517"/>
          <p:cNvSpPr/>
          <p:nvPr/>
        </p:nvSpPr>
        <p:spPr>
          <a:xfrm>
            <a:off x="6428232" y="5596128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TextBox 17518"/>
          <p:cNvSpPr txBox="1"/>
          <p:nvPr/>
        </p:nvSpPr>
        <p:spPr>
          <a:xfrm>
            <a:off x="6537960" y="561441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Phased rollout: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pilot at one regional centre (e.g. Bhubaneswar) side by side with current nowcasts, then scale state by state.</a:t>
            </a:r>
          </a:p>
        </p:txBody>
      </p:sp>
      <p:sp>
        <p:nvSpPr>
          <p:cNvPr id="17520" name="Oval 17519"/>
          <p:cNvSpPr/>
          <p:nvPr/>
        </p:nvSpPr>
        <p:spPr>
          <a:xfrm>
            <a:off x="11594592" y="5678424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1159459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201168" y="3575304"/>
            <a:ext cx="11786616" cy="512064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3" name="TextBox 17522"/>
          <p:cNvSpPr txBox="1"/>
          <p:nvPr/>
        </p:nvSpPr>
        <p:spPr>
          <a:xfrm>
            <a:off x="320040" y="61081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(higher is better), on held-out 2019 US storms. Trained on US GLM lightning, adapted to INSAT/GFS, not yet verified against Indian lightning observations. Tile count is an estimate from India’s land area.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8732520" cy="420624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7A0E12"/>
              </a:gs>
              <a:gs pos="100000">
                <a:srgbClr val="D62828"/>
              </a:gs>
            </a:gsLst>
            <a:lin scaled="0" ang="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1" name="Picture 17410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70432"/>
            <a:ext cx="274320" cy="2743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0972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2,558 lives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67128" y="1115568"/>
            <a:ext cx="667512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lost to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lightning in India in 2023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39.7%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all deaths from forces of nature, the largest single share (NCRB). Today’s operational nowcasts look only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hours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ahead.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034272" y="1097280"/>
            <a:ext cx="2926079" cy="420624"/>
          </a:xfrm>
          <a:prstGeom prst="roundRect">
            <a:avLst>
              <a:gd name="adj" fmla="val 18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9162288" y="1124712"/>
            <a:ext cx="268833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PS SIH26072 · MoES / IMD</a:t>
            </a:r>
          </a:p>
          <a:p>
            <a:pPr algn="l"/>
            <a:r>
              <a:rPr sz="90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Theme: Disaster Management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600" y="1609344"/>
            <a:ext cx="6739128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1874519" y="1664207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313" y="1707001"/>
            <a:ext cx="152156" cy="15215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167128" y="1655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Potential Impact on Target Audience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420623" y="2020824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083003"/>
            <a:ext cx="186537" cy="1865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795528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IMD Forecasters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95528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MoES · forecast centres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9768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Auto-updated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10-min, 2 km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and lightning maps.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Doubles the nowcast window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3 h to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" name="Freeform 1"/>
          <p:cNvSpPr/>
          <p:nvPr/>
        </p:nvSpPr>
        <p:spPr>
          <a:xfrm>
            <a:off x="2596896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0"/>
                </a:moveTo>
                <a:lnTo>
                  <a:pt x="388403" y="253118"/>
                </a:lnTo>
              </a:path>
            </a:pathLst>
          </a:custGeom>
          <a:noFill/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2558034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953295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338328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2898648"/>
            <a:ext cx="310896" cy="310896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2960827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Disaster Managers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NDMA · SDMAs · districts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9768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Earlier, district-level alerts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to clear fields, fairs, beaches and schools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before the first strike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" name="Freeform 2"/>
          <p:cNvSpPr/>
          <p:nvPr/>
        </p:nvSpPr>
        <p:spPr>
          <a:xfrm>
            <a:off x="2596896" y="3236976"/>
            <a:ext cx="269748" cy="0"/>
          </a:xfrm>
          <a:custGeom>
            <a:avLst/>
            <a:gdLst/>
            <a:ahLst/>
            <a:cxnLst/>
            <a:rect l="l" t="t" r="r" b="b"/>
            <a:pathLst>
              <a:path w="269748" h="0">
                <a:moveTo>
                  <a:pt x="0" y="0"/>
                </a:moveTo>
                <a:lnTo>
                  <a:pt x="269748" y="0"/>
                </a:lnTo>
              </a:path>
            </a:pathLst>
          </a:custGeom>
          <a:noFill/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558034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2834639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338328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0623" y="3776472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pr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" y="3838651"/>
            <a:ext cx="186537" cy="186537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95528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Farmers &amp; Labourers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95528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most exposed, out in the open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29768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Hours, not minutes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to leave fields and shelter livestock, via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Damini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Meghdoot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apps.</a:t>
            </a:r>
          </a:p>
        </p:txBody>
      </p:sp>
      <p:sp>
        <p:nvSpPr>
          <p:cNvPr id="4" name="Freeform 3"/>
          <p:cNvSpPr/>
          <p:nvPr/>
        </p:nvSpPr>
        <p:spPr>
          <a:xfrm>
            <a:off x="2596896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253118"/>
                </a:moveTo>
                <a:lnTo>
                  <a:pt x="388403" y="0"/>
                </a:lnTo>
              </a:path>
            </a:pathLst>
          </a:custGeom>
          <a:noFill/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Oval 17441"/>
          <p:cNvSpPr/>
          <p:nvPr/>
        </p:nvSpPr>
        <p:spPr>
          <a:xfrm>
            <a:off x="2558034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2953295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599431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4681727" y="2020824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3907" y="2083003"/>
            <a:ext cx="186537" cy="186537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056631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Aviation &amp; Airports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56631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AAI · airlines · IAF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690871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hazard maps for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rerouting and safer ground operations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with fewer diversions and go-arounds.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211028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0"/>
                </a:moveTo>
                <a:lnTo>
                  <a:pt x="0" y="253118"/>
                </a:lnTo>
              </a:path>
            </a:pathLst>
          </a:custGeom>
          <a:noFill/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Oval 17449"/>
          <p:cNvSpPr/>
          <p:nvPr/>
        </p:nvSpPr>
        <p:spPr>
          <a:xfrm>
            <a:off x="4560569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4179024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ounded Rectangle 17451"/>
          <p:cNvSpPr/>
          <p:nvPr/>
        </p:nvSpPr>
        <p:spPr>
          <a:xfrm>
            <a:off x="4599431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4681727" y="2898648"/>
            <a:ext cx="310896" cy="31089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po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3907" y="2960827"/>
            <a:ext cx="186537" cy="18653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5056631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Power &amp; Telecom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5056631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grid, towers, rail signalling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90871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Pre-position repair crews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shield lines, towers and signalling from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and squalls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Freeform 7"/>
          <p:cNvSpPr/>
          <p:nvPr/>
        </p:nvSpPr>
        <p:spPr>
          <a:xfrm>
            <a:off x="4329684" y="3236976"/>
            <a:ext cx="269747" cy="0"/>
          </a:xfrm>
          <a:custGeom>
            <a:avLst/>
            <a:gdLst/>
            <a:ahLst/>
            <a:cxnLst/>
            <a:rect l="l" t="t" r="r" b="b"/>
            <a:pathLst>
              <a:path w="269747" h="0">
                <a:moveTo>
                  <a:pt x="26974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4560569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4297680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599431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4681727" y="3776472"/>
            <a:ext cx="310896" cy="310896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907" y="3838651"/>
            <a:ext cx="186537" cy="186537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5056631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Citizens &amp; Cities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5056631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hyper-local alerts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690871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“Storm in the next hour” alerts.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Tested on Bhubaneswar, Kolkata and Delhi storms.</a:t>
            </a:r>
          </a:p>
        </p:txBody>
      </p:sp>
      <p:sp>
        <p:nvSpPr>
          <p:cNvPr id="9" name="Freeform 8"/>
          <p:cNvSpPr/>
          <p:nvPr/>
        </p:nvSpPr>
        <p:spPr>
          <a:xfrm>
            <a:off x="4211028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253118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Oval 17465"/>
          <p:cNvSpPr/>
          <p:nvPr/>
        </p:nvSpPr>
        <p:spPr>
          <a:xfrm>
            <a:off x="4560569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Oval 17466"/>
          <p:cNvSpPr/>
          <p:nvPr/>
        </p:nvSpPr>
        <p:spPr>
          <a:xfrm>
            <a:off x="4179024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2683764" y="193852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1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4 DATA SOURCES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2775204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Oval 17469"/>
          <p:cNvSpPr/>
          <p:nvPr/>
        </p:nvSpPr>
        <p:spPr>
          <a:xfrm>
            <a:off x="2802636" y="2112264"/>
            <a:ext cx="146304" cy="14630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ra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6044" y="2135672"/>
            <a:ext cx="99486" cy="9948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2985516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3634740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Oval 17473"/>
          <p:cNvSpPr/>
          <p:nvPr/>
        </p:nvSpPr>
        <p:spPr>
          <a:xfrm>
            <a:off x="3662172" y="2112264"/>
            <a:ext cx="146304" cy="14630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5580" y="2135672"/>
            <a:ext cx="99486" cy="9948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3845052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2775204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Oval 17477"/>
          <p:cNvSpPr/>
          <p:nvPr/>
        </p:nvSpPr>
        <p:spPr>
          <a:xfrm>
            <a:off x="2802636" y="2340864"/>
            <a:ext cx="146304" cy="146304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9" name="Picture 17478" descr="za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6044" y="2364272"/>
            <a:ext cx="99486" cy="99486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2985516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634740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2" name="Oval 17481"/>
          <p:cNvSpPr/>
          <p:nvPr/>
        </p:nvSpPr>
        <p:spPr>
          <a:xfrm>
            <a:off x="3662172" y="2340864"/>
            <a:ext cx="146304" cy="14630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3" name="Picture 17482" descr="glob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5580" y="2364272"/>
            <a:ext cx="99486" cy="99486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845052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NWP</a:t>
            </a:r>
          </a:p>
        </p:txBody>
      </p:sp>
      <p:sp>
        <p:nvSpPr>
          <p:cNvPr id="17485" name="Oval 17484"/>
          <p:cNvSpPr/>
          <p:nvPr/>
        </p:nvSpPr>
        <p:spPr>
          <a:xfrm>
            <a:off x="2884932" y="2523744"/>
            <a:ext cx="1426464" cy="1426464"/>
          </a:xfrm>
          <a:prstGeom prst="ellipse">
            <a:avLst/>
          </a:prstGeom>
          <a:gradFill rotWithShape="1">
            <a:gsLst>
              <a:gs pos="0">
                <a:srgbClr val="DCE9F7"/>
              </a:gs>
              <a:gs pos="100000">
                <a:srgbClr val="1565C0"/>
              </a:gs>
            </a:gsLst>
            <a:lin scaled="0" ang="270000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Oval 17485"/>
          <p:cNvSpPr/>
          <p:nvPr/>
        </p:nvSpPr>
        <p:spPr>
          <a:xfrm>
            <a:off x="3046232" y="2685044"/>
            <a:ext cx="1103863" cy="1103863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3174613" y="2813425"/>
            <a:ext cx="847100" cy="847100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3012948" y="2651760"/>
            <a:ext cx="1170432" cy="1170432"/>
          </a:xfrm>
          <a:prstGeom prst="ellipse">
            <a:avLst/>
          </a:prstGeom>
          <a:gradFill rotWithShape="1">
            <a:gsLst>
              <a:gs pos="0">
                <a:srgbClr val="173B6B"/>
              </a:gs>
              <a:gs pos="100000">
                <a:srgbClr val="0B2545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cloudbolt_FFB4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70148" y="2761488"/>
            <a:ext cx="256032" cy="25603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3049524" y="299923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2400" i="0" b="0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0–6 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3049524" y="3364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seamless AI</a:t>
            </a:r>
          </a:p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lightning nowcast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692908" y="4014216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2692908" y="401421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1 · 0–3 h multimodal fusion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2692908" y="4233672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2692908" y="423367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2 · 3–6 h AI-corrected NWP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2592324" y="445312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updates every 10 min · 2 km radar grid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077456" y="1609344"/>
            <a:ext cx="4882896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8" name="Oval 17497"/>
          <p:cNvSpPr/>
          <p:nvPr/>
        </p:nvSpPr>
        <p:spPr>
          <a:xfrm>
            <a:off x="8302752" y="1664207"/>
            <a:ext cx="237744" cy="23774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gi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5545" y="1707001"/>
            <a:ext cx="152156" cy="152156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595360" y="1655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Benefits of the Solution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7187184" y="195681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7187184" y="195681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7827264" y="1956816"/>
            <a:ext cx="256032" cy="594360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hea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2020824"/>
            <a:ext cx="237744" cy="23774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187184" y="229514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Social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93024" y="199339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Saves lives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where lightning strikes hardest: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MP, Bihar, Odisha, UP and Jharkhand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account for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59%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of India’s lightning deaths. Timely alerts build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public trust in IMD warnings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7187184" y="261213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7187184" y="261213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7827264" y="2612136"/>
            <a:ext cx="256032" cy="59436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rupe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16368" y="2676143"/>
            <a:ext cx="237744" cy="23774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187184" y="295046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193024" y="264871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Cuts losses to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crops, livestock, flights and power grids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Built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existing and open data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(IMD radar, INSAT, GFS):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sensors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are needed, and the model runs on a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single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7187184" y="326745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87184" y="326745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Rectangle 17514"/>
          <p:cNvSpPr/>
          <p:nvPr/>
        </p:nvSpPr>
        <p:spPr>
          <a:xfrm>
            <a:off x="7827264" y="3267456"/>
            <a:ext cx="256032" cy="5943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lea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16368" y="3331464"/>
            <a:ext cx="237744" cy="23774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187184" y="36057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Environmental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8193024" y="330403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Flags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lightning-prone zones for forest-fire watch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supports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climate adaptation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severe convective weather grows, and helps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solar and grid operators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plan for storms.</a:t>
            </a:r>
          </a:p>
        </p:txBody>
      </p:sp>
      <p:sp>
        <p:nvSpPr>
          <p:cNvPr id="17519" name="Rounded Rectangle 17518"/>
          <p:cNvSpPr/>
          <p:nvPr/>
        </p:nvSpPr>
        <p:spPr>
          <a:xfrm>
            <a:off x="7187184" y="3922775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ounded Rectangle 17519"/>
          <p:cNvSpPr/>
          <p:nvPr/>
        </p:nvSpPr>
        <p:spPr>
          <a:xfrm>
            <a:off x="7187184" y="3922775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Rectangle 17520"/>
          <p:cNvSpPr/>
          <p:nvPr/>
        </p:nvSpPr>
        <p:spPr>
          <a:xfrm>
            <a:off x="7827264" y="3922775"/>
            <a:ext cx="256032" cy="59436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2" name="Picture 1752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6368" y="3986783"/>
            <a:ext cx="237744" cy="237744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7187184" y="42611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Strategic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8193024" y="3959351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Atmanirbhar: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India’s own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INSAT-3DR/3DS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satellites and GFS, and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keeps forecasting when radar or lightning feeds drop out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so it covers districts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beyond radar range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25" name="Rounded Rectangle 17524"/>
          <p:cNvSpPr/>
          <p:nvPr/>
        </p:nvSpPr>
        <p:spPr>
          <a:xfrm>
            <a:off x="228600" y="4681728"/>
            <a:ext cx="1234440" cy="10058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6" name="TextBox 17525"/>
          <p:cNvSpPr txBox="1"/>
          <p:nvPr/>
        </p:nvSpPr>
        <p:spPr>
          <a:xfrm>
            <a:off x="338328" y="4773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Measured,</a:t>
            </a:r>
          </a:p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not claimed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338328" y="5184648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75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Held-out 2019 storms scored against real satellite lightning (GLM).</a:t>
            </a:r>
          </a:p>
        </p:txBody>
      </p:sp>
      <p:sp>
        <p:nvSpPr>
          <p:cNvPr id="17528" name="Rounded Rectangle 17527"/>
          <p:cNvSpPr/>
          <p:nvPr/>
        </p:nvSpPr>
        <p:spPr>
          <a:xfrm>
            <a:off x="155448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166420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1.8×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166420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better than persistence at hour 1</a:t>
            </a:r>
          </a:p>
        </p:txBody>
      </p:sp>
      <p:sp>
        <p:nvSpPr>
          <p:cNvPr id="17531" name="TextBox 17530"/>
          <p:cNvSpPr txBox="1"/>
          <p:nvPr/>
        </p:nvSpPr>
        <p:spPr>
          <a:xfrm>
            <a:off x="166420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Lightning CSI 0.613 vs 0.341; the gap grows to 5.5× by hour 3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333756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DF5E8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3" name="TextBox 17532"/>
          <p:cNvSpPr txBox="1"/>
          <p:nvPr/>
        </p:nvSpPr>
        <p:spPr>
          <a:xfrm>
            <a:off x="344728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E08A00"/>
                </a:solidFill>
                <a:latin typeface="Segoe UI Black"/>
                <a:ea typeface="Segoe UI Black"/>
                <a:cs typeface="Segoe UI Black"/>
              </a:rPr>
              <a:t>+70%</a:t>
            </a:r>
          </a:p>
        </p:txBody>
      </p:sp>
      <p:sp>
        <p:nvSpPr>
          <p:cNvPr id="17534" name="TextBox 17533"/>
          <p:cNvSpPr txBox="1"/>
          <p:nvPr/>
        </p:nvSpPr>
        <p:spPr>
          <a:xfrm>
            <a:off x="344728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over raw NWP lightning at hour 6</a:t>
            </a:r>
          </a:p>
        </p:txBody>
      </p:sp>
      <p:sp>
        <p:nvSpPr>
          <p:cNvPr id="17535" name="TextBox 17534"/>
          <p:cNvSpPr txBox="1"/>
          <p:nvPr/>
        </p:nvSpPr>
        <p:spPr>
          <a:xfrm>
            <a:off x="344728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CSI 0.297 vs 0.175, and ahead of NWP at every hour from 1 to 6</a:t>
            </a:r>
          </a:p>
        </p:txBody>
      </p:sp>
      <p:sp>
        <p:nvSpPr>
          <p:cNvPr id="17536" name="Rounded Rectangle 17535"/>
          <p:cNvSpPr/>
          <p:nvPr/>
        </p:nvSpPr>
        <p:spPr>
          <a:xfrm>
            <a:off x="512064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7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7" name="TextBox 17536"/>
          <p:cNvSpPr txBox="1"/>
          <p:nvPr/>
        </p:nvSpPr>
        <p:spPr>
          <a:xfrm>
            <a:off x="523036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38808"/>
                </a:solidFill>
                <a:latin typeface="Segoe UI Black"/>
                <a:ea typeface="Segoe UI Black"/>
                <a:cs typeface="Segoe UI Black"/>
              </a:rPr>
              <a:t>0.461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523036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hour-1 CSI with no radar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523036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Satellite + NWP only: the usual case outside Indian radar coverage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690372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701344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i="0" b="0">
                <a:solidFill>
                  <a:srgbClr val="D62828"/>
                </a:solidFill>
                <a:latin typeface="Segoe UI Black"/>
                <a:ea typeface="Segoe UI Black"/>
                <a:cs typeface="Segoe UI Black"/>
              </a:rPr>
              <a:t>0.71 vs 0.04</a:t>
            </a:r>
          </a:p>
        </p:txBody>
      </p:sp>
      <p:sp>
        <p:nvSpPr>
          <p:cNvPr id="17542" name="TextBox 17541"/>
          <p:cNvSpPr txBox="1"/>
          <p:nvPr/>
        </p:nvSpPr>
        <p:spPr>
          <a:xfrm>
            <a:off x="701344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India: storm vs dry day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701344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Storm probability 1 h ahead: Bhubaneswar outbreak (2 Sep 2023) vs Delhi dry day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686800" y="4681728"/>
            <a:ext cx="327355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8778240" y="4727448"/>
            <a:ext cx="3090672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CSI by lead hour</a:t>
            </a:r>
            <a:r>
              <a:rPr sz="8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(higher is better)</a:t>
            </a:r>
          </a:p>
        </p:txBody>
      </p:sp>
      <p:sp>
        <p:nvSpPr>
          <p:cNvPr id="17546" name="Rectangle 17545"/>
          <p:cNvSpPr/>
          <p:nvPr/>
        </p:nvSpPr>
        <p:spPr>
          <a:xfrm>
            <a:off x="8947769" y="4886553"/>
            <a:ext cx="1054851" cy="615939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Rectangle 17546"/>
          <p:cNvSpPr/>
          <p:nvPr/>
        </p:nvSpPr>
        <p:spPr>
          <a:xfrm>
            <a:off x="10002621" y="4886553"/>
            <a:ext cx="1054851" cy="615939"/>
          </a:xfrm>
          <a:prstGeom prst="rect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8" name="TextBox 17547"/>
          <p:cNvSpPr txBox="1"/>
          <p:nvPr/>
        </p:nvSpPr>
        <p:spPr>
          <a:xfrm>
            <a:off x="9417405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</a:t>
            </a:r>
          </a:p>
        </p:txBody>
      </p:sp>
      <p:sp>
        <p:nvSpPr>
          <p:cNvPr id="17549" name="TextBox 17548"/>
          <p:cNvSpPr txBox="1"/>
          <p:nvPr/>
        </p:nvSpPr>
        <p:spPr>
          <a:xfrm>
            <a:off x="10472257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</a:t>
            </a:r>
          </a:p>
        </p:txBody>
      </p:sp>
      <p:graphicFrame>
        <p:nvGraphicFramePr>
          <p:cNvPr id="17550" name="Chart 17549"/>
          <p:cNvGraphicFramePr>
            <a:graphicFrameLocks noGrp="1"/>
          </p:cNvGraphicFramePr>
          <p:nvPr/>
        </p:nvGraphicFramePr>
        <p:xfrm>
          <a:off x="8705088" y="4864608"/>
          <a:ext cx="2359152" cy="804672"/>
        </p:xfrm>
        <a:graphic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13" name="Freeform 12"/>
          <p:cNvSpPr/>
          <p:nvPr/>
        </p:nvSpPr>
        <p:spPr>
          <a:xfrm>
            <a:off x="11082528" y="50109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1" name="TextBox 17550"/>
          <p:cNvSpPr txBox="1"/>
          <p:nvPr/>
        </p:nvSpPr>
        <p:spPr>
          <a:xfrm>
            <a:off x="11265408" y="49560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Our nowcast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11265408" y="50566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0.297 at 6 h</a:t>
            </a:r>
          </a:p>
        </p:txBody>
      </p:sp>
      <p:sp>
        <p:nvSpPr>
          <p:cNvPr id="14" name="Freeform 13"/>
          <p:cNvSpPr/>
          <p:nvPr/>
        </p:nvSpPr>
        <p:spPr>
          <a:xfrm>
            <a:off x="11082528" y="52395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3" name="TextBox 17552"/>
          <p:cNvSpPr txBox="1"/>
          <p:nvPr/>
        </p:nvSpPr>
        <p:spPr>
          <a:xfrm>
            <a:off x="11265408" y="51846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Raw NWP</a:t>
            </a:r>
          </a:p>
        </p:txBody>
      </p:sp>
      <p:sp>
        <p:nvSpPr>
          <p:cNvPr id="17554" name="TextBox 17553"/>
          <p:cNvSpPr txBox="1"/>
          <p:nvPr/>
        </p:nvSpPr>
        <p:spPr>
          <a:xfrm>
            <a:off x="11265408" y="52852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0.175 at 6 h</a:t>
            </a:r>
          </a:p>
        </p:txBody>
      </p:sp>
      <p:sp>
        <p:nvSpPr>
          <p:cNvPr id="15" name="Freeform 14"/>
          <p:cNvSpPr/>
          <p:nvPr/>
        </p:nvSpPr>
        <p:spPr>
          <a:xfrm>
            <a:off x="11082528" y="54681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8A96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5" name="TextBox 17554"/>
          <p:cNvSpPr txBox="1"/>
          <p:nvPr/>
        </p:nvSpPr>
        <p:spPr>
          <a:xfrm>
            <a:off x="11265408" y="54132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Persistence</a:t>
            </a:r>
          </a:p>
        </p:txBody>
      </p:sp>
      <p:sp>
        <p:nvSpPr>
          <p:cNvPr id="17556" name="TextBox 17555"/>
          <p:cNvSpPr txBox="1"/>
          <p:nvPr/>
        </p:nvSpPr>
        <p:spPr>
          <a:xfrm>
            <a:off x="11265408" y="55138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0.080 at 3 h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228600" y="5760720"/>
            <a:ext cx="11731752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1E0"/>
              </a:gs>
              <a:gs pos="100000">
                <a:srgbClr val="E6F4E8"/>
              </a:gs>
            </a:gsLst>
            <a:lin scaled="0" ang="0"/>
          </a:gradFill>
          <a:ln w="12700">
            <a:solidFill>
              <a:srgbClr val="E7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228600" y="576072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i="1" b="1">
                <a:solidFill>
                  <a:srgbClr val="1B1B1B"/>
                </a:solidFill>
                <a:latin typeface="Times New Roman"/>
                <a:ea typeface="Times New Roman"/>
                <a:cs typeface="Times New Roman"/>
              </a:rPr>
              <a:t>“From a 3-hour to a 6-hour lightning warning: one seamless AI nowcast, built on India’s own satellites.”</a:t>
            </a:r>
          </a:p>
        </p:txBody>
      </p:sp>
      <p:pic>
        <p:nvPicPr>
          <p:cNvPr id="17559" name="Picture 17558" descr="zap_F370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806440"/>
            <a:ext cx="182880" cy="182880"/>
          </a:xfrm>
          <a:prstGeom prst="rect">
            <a:avLst/>
          </a:prstGeom>
        </p:spPr>
      </p:pic>
      <p:pic>
        <p:nvPicPr>
          <p:cNvPr id="17560" name="Picture 17559" descr="zap_13880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17352" y="5806440"/>
            <a:ext cx="182880" cy="182880"/>
          </a:xfrm>
          <a:prstGeom prst="rect">
            <a:avLst/>
          </a:prstGeom>
        </p:spPr>
      </p:pic>
      <p:sp>
        <p:nvSpPr>
          <p:cNvPr id="17561" name="TextBox 17560"/>
          <p:cNvSpPr txBox="1"/>
          <p:nvPr/>
        </p:nvSpPr>
        <p:spPr>
          <a:xfrm>
            <a:off x="320040" y="6071616"/>
            <a:ext cx="1154887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in a 16 km cell during each lead hour; Tier 1 is used for hours 1–3 and Tier 2 for hours 4–6. India probabilities from GK2A satellite + GFS input, no radar. Trained on US GLM lightning, adapted to INSAT/GFS, not yet verified against Indian lightning observations. Death figures: NCRB, Accidental Deaths &amp; Suicides in India 2023.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977639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977639" cy="310896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280160"/>
            <a:ext cx="39776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52144"/>
            <a:ext cx="201168" cy="20116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12647" y="1097280"/>
            <a:ext cx="3520439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16723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16723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51790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SEVIR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events: radar VIL, GOES-16 IR, GLM lightning. Veillette et al., NeurIPS 2020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registry.opendata.aws/sevir</a:t>
            </a:r>
            <a:r>
              <a:rPr sz="819"/>
              <a:t> </a:t>
            </a:r>
          </a:p>
        </p:txBody>
      </p:sp>
      <p:sp>
        <p:nvSpPr>
          <p:cNvPr id="2" name="Freeform 1"/>
          <p:cNvSpPr/>
          <p:nvPr/>
        </p:nvSpPr>
        <p:spPr>
          <a:xfrm>
            <a:off x="320040" y="2027935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20065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20065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20462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US weather model (NWP input + baseline),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6"/>
              </a:rPr>
              <a:t>registry.opendata.aws/noaa-hrrr-pds</a:t>
            </a:r>
            <a:r>
              <a:rPr sz="819"/>
              <a:t> </a:t>
            </a:r>
          </a:p>
        </p:txBody>
      </p:sp>
      <p:sp>
        <p:nvSpPr>
          <p:cNvPr id="3" name="Freeform 2"/>
          <p:cNvSpPr/>
          <p:nvPr/>
        </p:nvSpPr>
        <p:spPr>
          <a:xfrm>
            <a:off x="320040" y="25562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27289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27289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60120" y="25745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GFS 0.25°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global weather model,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7"/>
              </a:rPr>
              <a:t>registry.opendata.aws/noaa-gfs-bdp-pds</a:t>
            </a:r>
            <a:r>
              <a:rPr sz="819"/>
              <a:t> </a:t>
            </a:r>
          </a:p>
        </p:txBody>
      </p:sp>
      <p:sp>
        <p:nvSpPr>
          <p:cNvPr id="4" name="Freeform 3"/>
          <p:cNvSpPr/>
          <p:nvPr/>
        </p:nvSpPr>
        <p:spPr>
          <a:xfrm>
            <a:off x="320040" y="30845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25729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25729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60120" y="31028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 Imager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(3RIMG_L1B_STD), ISRO / SAC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5" name="Freeform 4"/>
          <p:cNvSpPr/>
          <p:nvPr/>
        </p:nvSpPr>
        <p:spPr>
          <a:xfrm>
            <a:off x="320040" y="361289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78561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378561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0120" y="363118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GK2A AMI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satellite, KMA via NOAA, no login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9"/>
              </a:rPr>
              <a:t>registry.opendata.aws/noaa-gk2a-pds</a:t>
            </a:r>
            <a:r>
              <a:rPr sz="819"/>
              <a:t> </a:t>
            </a:r>
          </a:p>
        </p:txBody>
      </p:sp>
      <p:sp>
        <p:nvSpPr>
          <p:cNvPr id="8" name="Freeform 7"/>
          <p:cNvSpPr/>
          <p:nvPr/>
        </p:nvSpPr>
        <p:spPr>
          <a:xfrm>
            <a:off x="320040" y="414121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3139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3139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60120" y="415950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FY-4A LMI corrected lightning events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ESSD 18, 5773 (2026), CC-BY 4.0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0"/>
              </a:rPr>
              <a:t>paper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1"/>
              </a:rPr>
              <a:t>data</a:t>
            </a:r>
            <a:r>
              <a:rPr sz="819"/>
              <a:t> </a:t>
            </a:r>
          </a:p>
        </p:txBody>
      </p:sp>
      <p:sp>
        <p:nvSpPr>
          <p:cNvPr id="11" name="Freeform 10"/>
          <p:cNvSpPr/>
          <p:nvPr/>
        </p:nvSpPr>
        <p:spPr>
          <a:xfrm>
            <a:off x="320040" y="466953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4842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6B7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484225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TESTED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0120" y="46878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ISRO Cherrapunji DWR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(RSCHR_L2B_STD), tested, not used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13" name="Freeform 12"/>
          <p:cNvSpPr/>
          <p:nvPr/>
        </p:nvSpPr>
        <p:spPr>
          <a:xfrm>
            <a:off x="320040" y="51978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53705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20040" y="53705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MAPS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60120" y="52161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Survey of India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boundaries (OVSF/1M/7)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2"/>
              </a:rPr>
              <a:t>onlinemaps.surveyofindia.gov.in</a:t>
            </a:r>
            <a:r>
              <a:rPr sz="819"/>
              <a:t> </a:t>
            </a:r>
          </a:p>
        </p:txBody>
      </p:sp>
      <p:sp>
        <p:nvSpPr>
          <p:cNvPr id="14" name="Freeform 13"/>
          <p:cNvSpPr/>
          <p:nvPr/>
        </p:nvSpPr>
        <p:spPr>
          <a:xfrm>
            <a:off x="320040" y="57261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589889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58988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ASKED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0120" y="57444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ILDN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Detection Network, CeLTS, Tripura University: data requested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3"/>
              </a:rPr>
              <a:t>ildn.in</a:t>
            </a:r>
            <a:r>
              <a:rPr sz="819"/>
              <a:t> 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315968" y="1097280"/>
            <a:ext cx="4343400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4315968" y="1097280"/>
            <a:ext cx="4343400" cy="310896"/>
          </a:xfrm>
          <a:prstGeom prst="roundRect">
            <a:avLst>
              <a:gd name="adj" fmla="val 3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4315968" y="1280160"/>
            <a:ext cx="4343400" cy="128016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searc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5696" y="1152144"/>
            <a:ext cx="201168" cy="201168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700016" y="10972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Methods &amp; Research Papers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43983" y="1517904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MODEL DESIGN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462272" y="17373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572000" y="1691639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Ronneberger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U-Net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MICCAI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5"/>
              </a:rPr>
              <a:t>arXiv:1505.04597</a:t>
            </a:r>
            <a:r>
              <a:rPr sz="800"/>
              <a:t> 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4462272" y="1938527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4572000" y="1892807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Perez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FiLM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conditioning, AAAI 2018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6"/>
              </a:rPr>
              <a:t>arXiv:1709.07871</a:t>
            </a:r>
            <a:r>
              <a:rPr sz="800"/>
              <a:t> 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4462272" y="21396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572000" y="2093976"/>
            <a:ext cx="3977639" cy="3383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Leinonen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Thunderstorm nowcasting with deep learning: multi-hazard data fusion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GRL 2023 (closest prior work)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7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443983" y="251460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DEEP-LEARNING NOWCASTING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462272" y="273405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572000" y="268833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Shi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ConvLSTM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precipitation nowcasting, NeurIPS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8"/>
              </a:rPr>
              <a:t>arXiv:1506.04214</a:t>
            </a:r>
            <a:r>
              <a:rPr sz="800"/>
              <a:t> 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4462272" y="293522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572000" y="288950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Ravuri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Skilful nowcasting with deep generative models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Nature 597 (2021)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9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462272" y="31363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572000" y="30906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Gao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Earthformer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(SEVIR benchmark), NeurIPS 2022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0"/>
              </a:rPr>
              <a:t>arXiv:2207.05833</a:t>
            </a:r>
            <a:r>
              <a:rPr sz="800"/>
              <a:t> 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3" y="3374136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SENSORS &amp; WEATHER MODELS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4462272" y="35935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572000" y="35478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Dowell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Part I, Weather &amp; Forecasting 37 (2022)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1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4462272" y="37947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4572000" y="3749040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Goodman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GOES-R GLM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Atmos. Research 125 (2013)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2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4462272" y="3995928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4572000" y="3950208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NOAA/NASA,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GLM Lightning Cluster-Filter ATBD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(330 ms / 16.5 km flashes)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3"/>
              </a:rPr>
              <a:t>pdf</a:t>
            </a:r>
            <a:r>
              <a:rPr sz="800"/>
              <a:t> </a:t>
            </a:r>
          </a:p>
        </p:txBody>
      </p:sp>
      <p:sp>
        <p:nvSpPr>
          <p:cNvPr id="17468" name="Oval 17467"/>
          <p:cNvSpPr/>
          <p:nvPr/>
        </p:nvSpPr>
        <p:spPr>
          <a:xfrm>
            <a:off x="4462272" y="41970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72000" y="41513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Blaylock,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Herbie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NWP download tool, Zenodo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4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443983" y="44348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OUR WORK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4462272" y="46542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TextBox 17471"/>
          <p:cNvSpPr txBox="1"/>
          <p:nvPr/>
        </p:nvSpPr>
        <p:spPr>
          <a:xfrm>
            <a:off x="4572000" y="46085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frozen results and scorecard,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5"/>
              </a:rPr>
              <a:t>results/RESULTS.md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live site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6"/>
              </a:rPr>
              <a:t>tadit.pages.dev</a:t>
            </a:r>
            <a:r>
              <a:rPr sz="800"/>
              <a:t> 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4443983" y="48920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VERIFICATION &amp; PHYSICS</a:t>
            </a:r>
          </a:p>
        </p:txBody>
      </p:sp>
      <p:sp>
        <p:nvSpPr>
          <p:cNvPr id="17474" name="Oval 17473"/>
          <p:cNvSpPr/>
          <p:nvPr/>
        </p:nvSpPr>
        <p:spPr>
          <a:xfrm>
            <a:off x="4462272" y="51114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572000" y="50657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Schaefer,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Critical success index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a warning-skill score, Weather &amp; Forecasting 1990</a:t>
            </a:r>
          </a:p>
        </p:txBody>
      </p:sp>
      <p:sp>
        <p:nvSpPr>
          <p:cNvPr id="17476" name="Oval 17475"/>
          <p:cNvSpPr/>
          <p:nvPr/>
        </p:nvSpPr>
        <p:spPr>
          <a:xfrm>
            <a:off x="4462272" y="531266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4572000" y="52669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Greene &amp; Clark,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Vertically integrated liquid (VIL)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from radar, Monthly Weather Review 1972</a:t>
            </a:r>
          </a:p>
        </p:txBody>
      </p:sp>
      <p:sp>
        <p:nvSpPr>
          <p:cNvPr id="17478" name="Oval 17477"/>
          <p:cNvSpPr/>
          <p:nvPr/>
        </p:nvSpPr>
        <p:spPr>
          <a:xfrm>
            <a:off x="4462272" y="5513831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4572000" y="546811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Maddox,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Mesoscale convective complexes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(−52 °C cloud-top threshold), BAMS 1980</a:t>
            </a:r>
          </a:p>
        </p:txBody>
      </p:sp>
      <p:sp>
        <p:nvSpPr>
          <p:cNvPr id="17480" name="Rounded Rectangle 17479">
            <a:hlinkClick r:id="rId26"/>
          </p:cNvPr>
          <p:cNvSpPr/>
          <p:nvPr/>
        </p:nvSpPr>
        <p:spPr>
          <a:xfrm>
            <a:off x="8769095" y="1097280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user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97111" y="1197864"/>
            <a:ext cx="237744" cy="237744"/>
          </a:xfrm>
          <a:prstGeom prst="rect">
            <a:avLst/>
          </a:prstGeom>
        </p:spPr>
      </p:pic>
      <p:sp>
        <p:nvSpPr>
          <p:cNvPr id="17482" name="TextBox 17481">
            <a:hlinkClick r:id="rId26"/>
          </p:cNvPr>
          <p:cNvSpPr txBox="1"/>
          <p:nvPr/>
        </p:nvSpPr>
        <p:spPr>
          <a:xfrm>
            <a:off x="9226295" y="1133856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Live prototype: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tadit.pages.dev</a:t>
            </a:r>
          </a:p>
        </p:txBody>
      </p:sp>
      <p:sp>
        <p:nvSpPr>
          <p:cNvPr id="17483" name="Rounded Rectangle 17482">
            <a:hlinkClick r:id="rId28"/>
          </p:cNvPr>
          <p:cNvSpPr/>
          <p:nvPr/>
        </p:nvSpPr>
        <p:spPr>
          <a:xfrm>
            <a:off x="8769095" y="1609344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cod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97111" y="1709928"/>
            <a:ext cx="237744" cy="237744"/>
          </a:xfrm>
          <a:prstGeom prst="rect">
            <a:avLst/>
          </a:prstGeom>
        </p:spPr>
      </p:pic>
      <p:sp>
        <p:nvSpPr>
          <p:cNvPr id="17485" name="TextBox 17484">
            <a:hlinkClick r:id="rId28"/>
          </p:cNvPr>
          <p:cNvSpPr txBox="1"/>
          <p:nvPr/>
        </p:nvSpPr>
        <p:spPr>
          <a:xfrm>
            <a:off x="9226295" y="1645920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Code &amp; results: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github.com/adit1290codesrank/sih2026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8769095" y="2139696"/>
            <a:ext cx="3191256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Rounded Rectangle 17486"/>
          <p:cNvSpPr/>
          <p:nvPr/>
        </p:nvSpPr>
        <p:spPr>
          <a:xfrm>
            <a:off x="8769095" y="2139696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Rectangle 17487"/>
          <p:cNvSpPr/>
          <p:nvPr/>
        </p:nvSpPr>
        <p:spPr>
          <a:xfrm>
            <a:off x="8769095" y="2322576"/>
            <a:ext cx="319125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hieldche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8823" y="2194560"/>
            <a:ext cx="201168" cy="201168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153143" y="2139696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 Check vs Real Lightning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878823" y="2505456"/>
            <a:ext cx="300837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2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FY-4A satellite lightning, CSI for hours 1 / 2 / 3 (persistence in brackets)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8860535" y="2816352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933687" y="2816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GK2A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10012679" y="2816352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0.22 / 0.20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8860535" y="3108960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8933687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INSAT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0012679" y="3108960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0.16 / 0.13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8860535" y="3401568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8933687" y="34015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Guwahati · INSAT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10012679" y="3401568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hour 6: MODERATE risk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storm hit the city then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8769095" y="3803903"/>
            <a:ext cx="3191256" cy="1152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8769095" y="3803903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8769095" y="3986783"/>
            <a:ext cx="3191256" cy="12801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aler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78823" y="3858767"/>
            <a:ext cx="201168" cy="20116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153143" y="3803903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 Storms We Forecast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878823" y="4187951"/>
            <a:ext cx="300837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Bhubaneswar, 2 Sep 2023: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61,000 lightning strikes in two hours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2"/>
              </a:rPr>
              <a:t>Organiser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); 10 killed in six districts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3"/>
              </a:rPr>
              <a:t>Deccan Herald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Kolkata, 9 May 2024: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thundersquall and hailstorms lash the city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4"/>
              </a:rPr>
              <a:t>ThePrint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769095" y="5047487"/>
            <a:ext cx="3191256" cy="1225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8769095" y="5047487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8769095" y="5230367"/>
            <a:ext cx="3191256" cy="12801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landmark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78823" y="5102351"/>
            <a:ext cx="201168" cy="201168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9153143" y="5047487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Government Sources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878823" y="5431535"/>
            <a:ext cx="3008376" cy="804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NCRB,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Accidental Deaths &amp; Suicides in India 2023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(lightning deaths)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6"/>
              </a:rPr>
              <a:t>data.gov.in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station-wise nowcast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service (3 h horizon)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7"/>
              </a:rPr>
              <a:t>mausam.imd.gov.in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Cabinet approves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2024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8"/>
              </a:rPr>
              <a:t>pmindia.gov.in</a:t>
            </a:r>
            <a:r>
              <a:rPr sz="78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7662</TotalTime>
  <Words>346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Krish Rahul Goyal</cp:lastModifiedBy>
  <cp:revision>149</cp:revision>
  <dcterms:created xsi:type="dcterms:W3CDTF">2013-12-12T18:46:50Z</dcterms:created>
  <dcterms:modified xsi:type="dcterms:W3CDTF">2026-09-29T17:11:30Z</dcterms:modified>
  <cp:category/>
</cp:coreProperties>
</file>